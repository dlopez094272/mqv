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417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F5FF"/>
          </a:solidFill>
          <a:ln w="12700">
            <a:solidFill>
              <a:srgbClr val="00F5FF"/>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Shape 5"/>
          <p:cNvSpPr/>
          <p:nvPr/>
        </p:nvSpPr>
        <p:spPr>
          <a:xfrm>
            <a:off x="0" y="64008"/>
            <a:ext cx="9144000" cy="1829"/>
          </a:xfrm>
          <a:prstGeom prst="rect">
            <a:avLst/>
          </a:prstGeom>
          <a:solidFill>
            <a:srgbClr val="00F5FF">
              <a:alpha val="15000"/>
            </a:srgbClr>
          </a:solidFill>
          <a:ln w="12700">
            <a:solidFill>
              <a:srgbClr val="00F5FF"/>
            </a:solidFill>
            <a:prstDash val="solid"/>
          </a:ln>
        </p:spPr>
      </p:sp>
      <p:pic>
        <p:nvPicPr>
          <p:cNvPr id="8" name="Image 0" descr="preencoded.png"/>
          <p:cNvPicPr>
            <a:picLocks noChangeAspect="1"/>
          </p:cNvPicPr>
          <p:nvPr/>
        </p:nvPicPr>
        <p:blipFill>
          <a:blip r:embed="rId3">
            <a:alphaModFix amt="85000"/>
          </a:blip>
          <a:stretch>
            <a:fillRect/>
          </a:stretch>
        </p:blipFill>
        <p:spPr>
          <a:xfrm>
            <a:off x="6675120" y="457200"/>
            <a:ext cx="2011680" cy="2011680"/>
          </a:xfrm>
          <a:prstGeom prst="rect">
            <a:avLst/>
          </a:prstGeom>
        </p:spPr>
      </p:pic>
      <p:sp>
        <p:nvSpPr>
          <p:cNvPr id="9" name="Shape 6"/>
          <p:cNvSpPr/>
          <p:nvPr/>
        </p:nvSpPr>
        <p:spPr>
          <a:xfrm>
            <a:off x="457200" y="502920"/>
            <a:ext cx="2194560" cy="320040"/>
          </a:xfrm>
          <a:prstGeom prst="rect">
            <a:avLst/>
          </a:prstGeom>
          <a:solidFill>
            <a:srgbClr val="7C3AED">
              <a:alpha val="70000"/>
            </a:srgbClr>
          </a:solidFill>
          <a:ln w="12700">
            <a:solidFill>
              <a:srgbClr val="7C3AED">
                <a:alpha val="60000"/>
              </a:srgbClr>
            </a:solidFill>
            <a:prstDash val="solid"/>
          </a:ln>
        </p:spPr>
      </p:sp>
      <p:sp>
        <p:nvSpPr>
          <p:cNvPr id="10" name="Text 7"/>
          <p:cNvSpPr/>
          <p:nvPr/>
        </p:nvSpPr>
        <p:spPr>
          <a:xfrm>
            <a:off x="457200" y="502920"/>
            <a:ext cx="2194560" cy="320040"/>
          </a:xfrm>
          <a:prstGeom prst="rect">
            <a:avLst/>
          </a:prstGeom>
          <a:noFill/>
          <a:ln/>
        </p:spPr>
        <p:txBody>
          <a:bodyPr wrap="square" lIns="0" tIns="0" rIns="0" bIns="0" rtlCol="0" anchor="ctr"/>
          <a:lstStyle/>
          <a:p>
            <a:pPr marL="0" indent="0" algn="ctr">
              <a:buNone/>
            </a:pPr>
            <a:r>
              <a:rPr lang="en-US" sz="1000" b="1" kern="0" spc="200" dirty="0">
                <a:solidFill>
                  <a:srgbClr val="00F5FF"/>
                </a:solidFill>
              </a:rPr>
              <a:t>PROYECTO DE IA</a:t>
            </a:r>
            <a:endParaRPr lang="en-US" sz="1000" dirty="0"/>
          </a:p>
        </p:txBody>
      </p:sp>
      <p:sp>
        <p:nvSpPr>
          <p:cNvPr id="11" name="Text 8"/>
          <p:cNvSpPr/>
          <p:nvPr/>
        </p:nvSpPr>
        <p:spPr>
          <a:xfrm>
            <a:off x="457200" y="960120"/>
            <a:ext cx="6400800" cy="2286000"/>
          </a:xfrm>
          <a:prstGeom prst="rect">
            <a:avLst/>
          </a:prstGeom>
          <a:noFill/>
          <a:ln/>
        </p:spPr>
        <p:txBody>
          <a:bodyPr wrap="square" rtlCol="0" anchor="ctr"/>
          <a:lstStyle/>
          <a:p>
            <a:pPr marL="0" indent="0">
              <a:buNone/>
            </a:pPr>
            <a:r>
              <a:rPr lang="en-US" sz="2600" b="1" kern="0" spc="300" dirty="0">
                <a:solidFill>
                  <a:srgbClr val="00F5FF"/>
                </a:solidFill>
                <a:latin typeface="Calibri" pitchFamily="34" charset="0"/>
                <a:ea typeface="Calibri" pitchFamily="34" charset="-122"/>
                <a:cs typeface="Calibri" pitchFamily="34" charset="-120"/>
              </a:rPr>
              <a:t>AUTOMATIZACIÓN</a:t>
            </a:r>
            <a:endParaRPr lang="en-US" sz="2600" dirty="0"/>
          </a:p>
          <a:p>
            <a:pPr marL="0" indent="0">
              <a:buNone/>
            </a:pPr>
            <a:r>
              <a:rPr lang="en-US" sz="2600" b="1" kern="0" spc="200" dirty="0">
                <a:solidFill>
                  <a:srgbClr val="FFFFFF"/>
                </a:solidFill>
                <a:latin typeface="Calibri" pitchFamily="34" charset="0"/>
                <a:ea typeface="Calibri" pitchFamily="34" charset="-122"/>
                <a:cs typeface="Calibri" pitchFamily="34" charset="-120"/>
              </a:rPr>
              <a:t>DE REGISTRO DE COMPRAS</a:t>
            </a:r>
            <a:endParaRPr lang="en-US" sz="2600" dirty="0"/>
          </a:p>
          <a:p>
            <a:pPr marL="0" indent="0">
              <a:buNone/>
            </a:pPr>
            <a:r>
              <a:rPr lang="en-US" sz="2600" kern="0" spc="100" dirty="0">
                <a:solidFill>
                  <a:srgbClr val="8899BB"/>
                </a:solidFill>
                <a:latin typeface="Calibri" pitchFamily="34" charset="0"/>
                <a:ea typeface="Calibri" pitchFamily="34" charset="-122"/>
                <a:cs typeface="Calibri" pitchFamily="34" charset="-120"/>
              </a:rPr>
              <a:t>MEDIANTE AGENTE DE</a:t>
            </a:r>
            <a:endParaRPr lang="en-US" sz="2600" dirty="0"/>
          </a:p>
          <a:p>
            <a:pPr marL="0" indent="0">
              <a:buNone/>
            </a:pPr>
            <a:r>
              <a:rPr lang="en-US" sz="2600" b="1" kern="0" spc="200" dirty="0">
                <a:solidFill>
                  <a:srgbClr val="7C3AED"/>
                </a:solidFill>
                <a:latin typeface="Calibri" pitchFamily="34" charset="0"/>
                <a:ea typeface="Calibri" pitchFamily="34" charset="-122"/>
                <a:cs typeface="Calibri" pitchFamily="34" charset="-120"/>
              </a:rPr>
              <a:t>INTELIGENCIA ARTIFICIAL</a:t>
            </a:r>
            <a:endParaRPr lang="en-US" sz="2600" dirty="0"/>
          </a:p>
        </p:txBody>
      </p:sp>
      <p:sp>
        <p:nvSpPr>
          <p:cNvPr id="12" name="Shape 9"/>
          <p:cNvSpPr/>
          <p:nvPr/>
        </p:nvSpPr>
        <p:spPr>
          <a:xfrm>
            <a:off x="457200" y="3337560"/>
            <a:ext cx="4114800" cy="36576"/>
          </a:xfrm>
          <a:prstGeom prst="rect">
            <a:avLst/>
          </a:prstGeom>
          <a:solidFill>
            <a:srgbClr val="00F5FF"/>
          </a:solidFill>
          <a:ln w="12700">
            <a:solidFill>
              <a:srgbClr val="00F5FF"/>
            </a:solidFill>
            <a:prstDash val="solid"/>
          </a:ln>
        </p:spPr>
      </p:sp>
      <p:sp>
        <p:nvSpPr>
          <p:cNvPr id="13" name="Text 10"/>
          <p:cNvSpPr/>
          <p:nvPr/>
        </p:nvSpPr>
        <p:spPr>
          <a:xfrm>
            <a:off x="457200" y="3456432"/>
            <a:ext cx="6400800" cy="411480"/>
          </a:xfrm>
          <a:prstGeom prst="rect">
            <a:avLst/>
          </a:prstGeom>
          <a:noFill/>
          <a:ln/>
        </p:spPr>
        <p:txBody>
          <a:bodyPr wrap="square" rtlCol="0" anchor="ctr"/>
          <a:lstStyle/>
          <a:p>
            <a:pPr marL="0" indent="0">
              <a:buNone/>
            </a:pPr>
            <a:r>
              <a:rPr lang="en-US" sz="1400" i="1" dirty="0">
                <a:solidFill>
                  <a:srgbClr val="8899BB"/>
                </a:solidFill>
                <a:latin typeface="Calibri" pitchFamily="34" charset="0"/>
                <a:ea typeface="Calibri" pitchFamily="34" charset="-122"/>
                <a:cs typeface="Calibri" pitchFamily="34" charset="-120"/>
              </a:rPr>
              <a:t>Sistema DARA — Control de Cajas Chicas</a:t>
            </a:r>
            <a:endParaRPr lang="en-US" sz="1400" dirty="0"/>
          </a:p>
        </p:txBody>
      </p:sp>
      <p:sp>
        <p:nvSpPr>
          <p:cNvPr id="14" name="Shape 11"/>
          <p:cNvSpPr/>
          <p:nvPr/>
        </p:nvSpPr>
        <p:spPr>
          <a:xfrm>
            <a:off x="457200" y="4114800"/>
            <a:ext cx="1463040" cy="347472"/>
          </a:xfrm>
          <a:prstGeom prst="rect">
            <a:avLst/>
          </a:prstGeom>
          <a:solidFill>
            <a:srgbClr val="00F5FF">
              <a:alpha val="20000"/>
            </a:srgbClr>
          </a:solidFill>
          <a:ln w="12700">
            <a:solidFill>
              <a:srgbClr val="00F5FF">
                <a:alpha val="60000"/>
              </a:srgbClr>
            </a:solidFill>
            <a:prstDash val="solid"/>
          </a:ln>
        </p:spPr>
      </p:sp>
      <p:sp>
        <p:nvSpPr>
          <p:cNvPr id="15" name="Text 12"/>
          <p:cNvSpPr/>
          <p:nvPr/>
        </p:nvSpPr>
        <p:spPr>
          <a:xfrm>
            <a:off x="457200" y="4114800"/>
            <a:ext cx="1463040" cy="347472"/>
          </a:xfrm>
          <a:prstGeom prst="rect">
            <a:avLst/>
          </a:prstGeom>
          <a:noFill/>
          <a:ln/>
        </p:spPr>
        <p:txBody>
          <a:bodyPr wrap="square" lIns="0" tIns="0" rIns="0" bIns="0" rtlCol="0" anchor="ctr"/>
          <a:lstStyle/>
          <a:p>
            <a:pPr marL="0" indent="0" algn="ctr">
              <a:buNone/>
            </a:pPr>
            <a:r>
              <a:rPr lang="en-US" sz="900" b="1" kern="0" spc="100" dirty="0">
                <a:solidFill>
                  <a:srgbClr val="00F5FF"/>
                </a:solidFill>
              </a:rPr>
              <a:t>GEMINI AI</a:t>
            </a:r>
            <a:endParaRPr lang="en-US" sz="900" dirty="0"/>
          </a:p>
        </p:txBody>
      </p:sp>
      <p:sp>
        <p:nvSpPr>
          <p:cNvPr id="16" name="Shape 13"/>
          <p:cNvSpPr/>
          <p:nvPr/>
        </p:nvSpPr>
        <p:spPr>
          <a:xfrm>
            <a:off x="2084832" y="4114800"/>
            <a:ext cx="1463040" cy="347472"/>
          </a:xfrm>
          <a:prstGeom prst="rect">
            <a:avLst/>
          </a:prstGeom>
          <a:solidFill>
            <a:srgbClr val="7C3AED">
              <a:alpha val="20000"/>
            </a:srgbClr>
          </a:solidFill>
          <a:ln w="12700">
            <a:solidFill>
              <a:srgbClr val="7C3AED">
                <a:alpha val="60000"/>
              </a:srgbClr>
            </a:solidFill>
            <a:prstDash val="solid"/>
          </a:ln>
        </p:spPr>
      </p:sp>
      <p:sp>
        <p:nvSpPr>
          <p:cNvPr id="17" name="Text 14"/>
          <p:cNvSpPr/>
          <p:nvPr/>
        </p:nvSpPr>
        <p:spPr>
          <a:xfrm>
            <a:off x="2084832" y="4114800"/>
            <a:ext cx="1463040" cy="347472"/>
          </a:xfrm>
          <a:prstGeom prst="rect">
            <a:avLst/>
          </a:prstGeom>
          <a:noFill/>
          <a:ln/>
        </p:spPr>
        <p:txBody>
          <a:bodyPr wrap="square" lIns="0" tIns="0" rIns="0" bIns="0" rtlCol="0" anchor="ctr"/>
          <a:lstStyle/>
          <a:p>
            <a:pPr marL="0" indent="0" algn="ctr">
              <a:buNone/>
            </a:pPr>
            <a:r>
              <a:rPr lang="en-US" sz="900" b="1" kern="0" spc="100" dirty="0">
                <a:solidFill>
                  <a:srgbClr val="7C3AED"/>
                </a:solidFill>
              </a:rPr>
              <a:t>ZOHO CHATBOT</a:t>
            </a:r>
            <a:endParaRPr lang="en-US" sz="900" dirty="0"/>
          </a:p>
        </p:txBody>
      </p:sp>
      <p:sp>
        <p:nvSpPr>
          <p:cNvPr id="18" name="Shape 15"/>
          <p:cNvSpPr/>
          <p:nvPr/>
        </p:nvSpPr>
        <p:spPr>
          <a:xfrm>
            <a:off x="3712464" y="4114800"/>
            <a:ext cx="1463040" cy="347472"/>
          </a:xfrm>
          <a:prstGeom prst="rect">
            <a:avLst/>
          </a:prstGeom>
          <a:solidFill>
            <a:srgbClr val="00FF88">
              <a:alpha val="20000"/>
            </a:srgbClr>
          </a:solidFill>
          <a:ln w="12700">
            <a:solidFill>
              <a:srgbClr val="00FF88">
                <a:alpha val="60000"/>
              </a:srgbClr>
            </a:solidFill>
            <a:prstDash val="solid"/>
          </a:ln>
        </p:spPr>
      </p:sp>
      <p:sp>
        <p:nvSpPr>
          <p:cNvPr id="19" name="Text 16"/>
          <p:cNvSpPr/>
          <p:nvPr/>
        </p:nvSpPr>
        <p:spPr>
          <a:xfrm>
            <a:off x="3712464" y="4114800"/>
            <a:ext cx="1463040" cy="347472"/>
          </a:xfrm>
          <a:prstGeom prst="rect">
            <a:avLst/>
          </a:prstGeom>
          <a:noFill/>
          <a:ln/>
        </p:spPr>
        <p:txBody>
          <a:bodyPr wrap="square" lIns="0" tIns="0" rIns="0" bIns="0" rtlCol="0" anchor="ctr"/>
          <a:lstStyle/>
          <a:p>
            <a:pPr marL="0" indent="0" algn="ctr">
              <a:buNone/>
            </a:pPr>
            <a:r>
              <a:rPr lang="en-US" sz="900" b="1" kern="0" spc="100" dirty="0">
                <a:solidFill>
                  <a:srgbClr val="00FF88"/>
                </a:solidFill>
              </a:rPr>
              <a:t>OCR</a:t>
            </a:r>
            <a:endParaRPr lang="en-US" sz="900" dirty="0"/>
          </a:p>
        </p:txBody>
      </p:sp>
      <p:sp>
        <p:nvSpPr>
          <p:cNvPr id="20" name="Shape 17"/>
          <p:cNvSpPr/>
          <p:nvPr/>
        </p:nvSpPr>
        <p:spPr>
          <a:xfrm>
            <a:off x="5340096" y="4114800"/>
            <a:ext cx="1463040" cy="347472"/>
          </a:xfrm>
          <a:prstGeom prst="rect">
            <a:avLst/>
          </a:prstGeom>
          <a:solidFill>
            <a:srgbClr val="FFD700">
              <a:alpha val="20000"/>
            </a:srgbClr>
          </a:solidFill>
          <a:ln w="12700">
            <a:solidFill>
              <a:srgbClr val="FFD700">
                <a:alpha val="60000"/>
              </a:srgbClr>
            </a:solidFill>
            <a:prstDash val="solid"/>
          </a:ln>
        </p:spPr>
      </p:sp>
      <p:sp>
        <p:nvSpPr>
          <p:cNvPr id="21" name="Text 18"/>
          <p:cNvSpPr/>
          <p:nvPr/>
        </p:nvSpPr>
        <p:spPr>
          <a:xfrm>
            <a:off x="5340096" y="4114800"/>
            <a:ext cx="1463040" cy="347472"/>
          </a:xfrm>
          <a:prstGeom prst="rect">
            <a:avLst/>
          </a:prstGeom>
          <a:noFill/>
          <a:ln/>
        </p:spPr>
        <p:txBody>
          <a:bodyPr wrap="square" lIns="0" tIns="0" rIns="0" bIns="0" rtlCol="0" anchor="ctr"/>
          <a:lstStyle/>
          <a:p>
            <a:pPr marL="0" indent="0" algn="ctr">
              <a:buNone/>
            </a:pPr>
            <a:r>
              <a:rPr lang="en-US" sz="900" b="1" kern="0" spc="100" dirty="0">
                <a:solidFill>
                  <a:srgbClr val="FFD700"/>
                </a:solidFill>
              </a:rPr>
              <a:t>DARA ERP</a:t>
            </a:r>
            <a:endParaRPr lang="en-US" sz="900" dirty="0"/>
          </a:p>
        </p:txBody>
      </p:sp>
      <p:sp>
        <p:nvSpPr>
          <p:cNvPr id="22" name="Text 19"/>
          <p:cNvSpPr/>
          <p:nvPr/>
        </p:nvSpPr>
        <p:spPr>
          <a:xfrm>
            <a:off x="8046720" y="4663440"/>
            <a:ext cx="914400" cy="320040"/>
          </a:xfrm>
          <a:prstGeom prst="rect">
            <a:avLst/>
          </a:prstGeom>
          <a:noFill/>
          <a:ln/>
        </p:spPr>
        <p:txBody>
          <a:bodyPr wrap="square" rtlCol="0" anchor="ctr"/>
          <a:lstStyle/>
          <a:p>
            <a:pPr marL="0" indent="0" algn="r">
              <a:buNone/>
            </a:pPr>
            <a:r>
              <a:rPr lang="en-US" sz="2800" b="1">
                <a:solidFill>
                  <a:srgbClr val="00F5FF">
                    <a:alpha val="40000"/>
                  </a:srgbClr>
                </a:solidFill>
              </a:rPr>
              <a:t>2026</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C3AED"/>
          </a:solidFill>
          <a:ln w="12700">
            <a:solidFill>
              <a:srgbClr val="7C3AED"/>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Shape 5"/>
          <p:cNvSpPr/>
          <p:nvPr/>
        </p:nvSpPr>
        <p:spPr>
          <a:xfrm>
            <a:off x="228600" y="164592"/>
            <a:ext cx="365760" cy="27432"/>
          </a:xfrm>
          <a:prstGeom prst="rect">
            <a:avLst/>
          </a:prstGeom>
          <a:solidFill>
            <a:srgbClr val="00F5FF"/>
          </a:solidFill>
          <a:ln w="12700">
            <a:solidFill>
              <a:srgbClr val="00F5FF"/>
            </a:solidFill>
            <a:prstDash val="solid"/>
          </a:ln>
        </p:spPr>
      </p:sp>
      <p:sp>
        <p:nvSpPr>
          <p:cNvPr id="8" name="Shape 6"/>
          <p:cNvSpPr/>
          <p:nvPr/>
        </p:nvSpPr>
        <p:spPr>
          <a:xfrm>
            <a:off x="228600" y="164592"/>
            <a:ext cx="27432" cy="320040"/>
          </a:xfrm>
          <a:prstGeom prst="rect">
            <a:avLst/>
          </a:prstGeom>
          <a:solidFill>
            <a:srgbClr val="00F5FF"/>
          </a:solidFill>
          <a:ln w="12700">
            <a:solidFill>
              <a:srgbClr val="00F5FF"/>
            </a:solidFill>
            <a:prstDash val="solid"/>
          </a:ln>
        </p:spPr>
      </p:sp>
      <p:sp>
        <p:nvSpPr>
          <p:cNvPr id="9" name="Shape 7"/>
          <p:cNvSpPr/>
          <p:nvPr/>
        </p:nvSpPr>
        <p:spPr>
          <a:xfrm>
            <a:off x="8549640" y="4818888"/>
            <a:ext cx="365760" cy="27432"/>
          </a:xfrm>
          <a:prstGeom prst="rect">
            <a:avLst/>
          </a:prstGeom>
          <a:solidFill>
            <a:srgbClr val="7C3AED"/>
          </a:solidFill>
          <a:ln w="12700">
            <a:solidFill>
              <a:srgbClr val="7C3AED"/>
            </a:solidFill>
            <a:prstDash val="solid"/>
          </a:ln>
        </p:spPr>
      </p:sp>
      <p:sp>
        <p:nvSpPr>
          <p:cNvPr id="10" name="Shape 8"/>
          <p:cNvSpPr/>
          <p:nvPr/>
        </p:nvSpPr>
        <p:spPr>
          <a:xfrm>
            <a:off x="8887968" y="4480560"/>
            <a:ext cx="27432" cy="365760"/>
          </a:xfrm>
          <a:prstGeom prst="rect">
            <a:avLst/>
          </a:prstGeom>
          <a:solidFill>
            <a:srgbClr val="7C3AED"/>
          </a:solidFill>
          <a:ln w="12700">
            <a:solidFill>
              <a:srgbClr val="7C3AED"/>
            </a:solidFill>
            <a:prstDash val="solid"/>
          </a:ln>
        </p:spPr>
      </p:sp>
      <p:sp>
        <p:nvSpPr>
          <p:cNvPr id="11" name="Text 9"/>
          <p:cNvSpPr/>
          <p:nvPr/>
        </p:nvSpPr>
        <p:spPr>
          <a:xfrm>
            <a:off x="457200" y="137160"/>
            <a:ext cx="2743200" cy="347472"/>
          </a:xfrm>
          <a:prstGeom prst="rect">
            <a:avLst/>
          </a:prstGeom>
          <a:noFill/>
          <a:ln/>
        </p:spPr>
        <p:txBody>
          <a:bodyPr wrap="square" lIns="0" tIns="0" rIns="0" bIns="0" rtlCol="0" anchor="ctr"/>
          <a:lstStyle/>
          <a:p>
            <a:pPr marL="0" indent="0">
              <a:buNone/>
            </a:pPr>
            <a:r>
              <a:rPr lang="en-US" sz="1000" b="1" kern="0" spc="400" dirty="0">
                <a:solidFill>
                  <a:srgbClr val="7C3AED"/>
                </a:solidFill>
              </a:rPr>
              <a:t>EQUIPO</a:t>
            </a:r>
            <a:endParaRPr lang="en-US" sz="1000" dirty="0"/>
          </a:p>
        </p:txBody>
      </p:sp>
      <p:sp>
        <p:nvSpPr>
          <p:cNvPr id="12" name="Text 10"/>
          <p:cNvSpPr/>
          <p:nvPr/>
        </p:nvSpPr>
        <p:spPr>
          <a:xfrm>
            <a:off x="457200" y="438912"/>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Integrantes del Proyecto</a:t>
            </a:r>
            <a:endParaRPr lang="en-US" sz="2400" dirty="0"/>
          </a:p>
        </p:txBody>
      </p:sp>
      <p:sp>
        <p:nvSpPr>
          <p:cNvPr id="13" name="Shape 11"/>
          <p:cNvSpPr/>
          <p:nvPr/>
        </p:nvSpPr>
        <p:spPr>
          <a:xfrm>
            <a:off x="457200" y="932688"/>
            <a:ext cx="8229600" cy="27432"/>
          </a:xfrm>
          <a:prstGeom prst="rect">
            <a:avLst/>
          </a:prstGeom>
          <a:solidFill>
            <a:srgbClr val="7C3AED">
              <a:alpha val="40000"/>
            </a:srgbClr>
          </a:solidFill>
          <a:ln w="12700">
            <a:solidFill>
              <a:srgbClr val="7C3AED"/>
            </a:solidFill>
            <a:prstDash val="solid"/>
          </a:ln>
        </p:spPr>
      </p:sp>
      <p:sp>
        <p:nvSpPr>
          <p:cNvPr id="14" name="Shape 12"/>
          <p:cNvSpPr/>
          <p:nvPr/>
        </p:nvSpPr>
        <p:spPr>
          <a:xfrm>
            <a:off x="201168" y="1051560"/>
            <a:ext cx="2606040" cy="1417320"/>
          </a:xfrm>
          <a:prstGeom prst="rect">
            <a:avLst/>
          </a:prstGeom>
          <a:solidFill>
            <a:srgbClr val="0D1F3C"/>
          </a:solidFill>
          <a:ln w="12700">
            <a:solidFill>
              <a:srgbClr val="00FF88">
                <a:alpha val="50000"/>
              </a:srgbClr>
            </a:solidFill>
            <a:prstDash val="solid"/>
          </a:ln>
          <a:effectLst>
            <a:outerShdw blurRad="152400" dist="38100" dir="8100000" algn="bl" rotWithShape="0">
              <a:srgbClr val="000000">
                <a:alpha val="40000"/>
              </a:srgbClr>
            </a:outerShdw>
          </a:effectLst>
        </p:spPr>
      </p:sp>
      <p:sp>
        <p:nvSpPr>
          <p:cNvPr id="15" name="Shape 13"/>
          <p:cNvSpPr/>
          <p:nvPr/>
        </p:nvSpPr>
        <p:spPr>
          <a:xfrm>
            <a:off x="201168" y="1051560"/>
            <a:ext cx="54864" cy="1417320"/>
          </a:xfrm>
          <a:prstGeom prst="rect">
            <a:avLst/>
          </a:prstGeom>
          <a:solidFill>
            <a:srgbClr val="00FF88"/>
          </a:solidFill>
          <a:ln w="12700">
            <a:solidFill>
              <a:srgbClr val="00FF88"/>
            </a:solidFill>
            <a:prstDash val="solid"/>
          </a:ln>
        </p:spPr>
      </p:sp>
      <p:pic>
        <p:nvPicPr>
          <p:cNvPr id="16" name="Image 0" descr="preencoded.png"/>
          <p:cNvPicPr>
            <a:picLocks noChangeAspect="1"/>
          </p:cNvPicPr>
          <p:nvPr/>
        </p:nvPicPr>
        <p:blipFill>
          <a:blip r:embed="rId3"/>
          <a:stretch>
            <a:fillRect/>
          </a:stretch>
        </p:blipFill>
        <p:spPr>
          <a:xfrm>
            <a:off x="347472" y="1371600"/>
            <a:ext cx="502920" cy="502920"/>
          </a:xfrm>
          <a:prstGeom prst="rect">
            <a:avLst/>
          </a:prstGeom>
        </p:spPr>
      </p:pic>
      <p:sp>
        <p:nvSpPr>
          <p:cNvPr id="17" name="Text 14"/>
          <p:cNvSpPr/>
          <p:nvPr/>
        </p:nvSpPr>
        <p:spPr>
          <a:xfrm>
            <a:off x="932688" y="1179576"/>
            <a:ext cx="1783080"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Yeyson Aldair Barillas Hernández</a:t>
            </a:r>
            <a:endParaRPr lang="en-US" sz="1050" dirty="0"/>
          </a:p>
        </p:txBody>
      </p:sp>
      <p:sp>
        <p:nvSpPr>
          <p:cNvPr id="18" name="Shape 15"/>
          <p:cNvSpPr/>
          <p:nvPr/>
        </p:nvSpPr>
        <p:spPr>
          <a:xfrm>
            <a:off x="932688" y="1828800"/>
            <a:ext cx="1737360" cy="320040"/>
          </a:xfrm>
          <a:prstGeom prst="rect">
            <a:avLst/>
          </a:prstGeom>
          <a:solidFill>
            <a:srgbClr val="00FF88">
              <a:alpha val="25000"/>
            </a:srgbClr>
          </a:solidFill>
          <a:ln w="12700">
            <a:solidFill>
              <a:srgbClr val="00FF88">
                <a:alpha val="60000"/>
              </a:srgbClr>
            </a:solidFill>
            <a:prstDash val="solid"/>
          </a:ln>
        </p:spPr>
      </p:sp>
      <p:sp>
        <p:nvSpPr>
          <p:cNvPr id="19" name="Text 16"/>
          <p:cNvSpPr/>
          <p:nvPr/>
        </p:nvSpPr>
        <p:spPr>
          <a:xfrm>
            <a:off x="932688" y="1828800"/>
            <a:ext cx="1737360" cy="320040"/>
          </a:xfrm>
          <a:prstGeom prst="rect">
            <a:avLst/>
          </a:prstGeom>
          <a:noFill/>
          <a:ln/>
        </p:spPr>
        <p:txBody>
          <a:bodyPr wrap="square" lIns="0" tIns="0" rIns="0" bIns="0" rtlCol="0" anchor="ctr"/>
          <a:lstStyle/>
          <a:p>
            <a:pPr marL="0" indent="0" algn="ctr">
              <a:buNone/>
            </a:pPr>
            <a:r>
              <a:rPr lang="en-US" sz="950" b="1" dirty="0">
                <a:solidFill>
                  <a:srgbClr val="00FF88"/>
                </a:solidFill>
              </a:rPr>
              <a:t>QA – Implementación</a:t>
            </a:r>
            <a:endParaRPr lang="en-US" sz="950" dirty="0"/>
          </a:p>
        </p:txBody>
      </p:sp>
      <p:sp>
        <p:nvSpPr>
          <p:cNvPr id="20" name="Shape 17"/>
          <p:cNvSpPr/>
          <p:nvPr/>
        </p:nvSpPr>
        <p:spPr>
          <a:xfrm>
            <a:off x="3017520" y="1051560"/>
            <a:ext cx="2606040" cy="1417320"/>
          </a:xfrm>
          <a:prstGeom prst="rect">
            <a:avLst/>
          </a:prstGeom>
          <a:solidFill>
            <a:srgbClr val="0D1F3C"/>
          </a:solidFill>
          <a:ln w="12700">
            <a:solidFill>
              <a:srgbClr val="00F5FF">
                <a:alpha val="50000"/>
              </a:srgbClr>
            </a:solidFill>
            <a:prstDash val="solid"/>
          </a:ln>
          <a:effectLst>
            <a:outerShdw blurRad="152400" dist="38100" dir="8100000" algn="bl" rotWithShape="0">
              <a:srgbClr val="000000">
                <a:alpha val="40000"/>
              </a:srgbClr>
            </a:outerShdw>
          </a:effectLst>
        </p:spPr>
      </p:sp>
      <p:sp>
        <p:nvSpPr>
          <p:cNvPr id="21" name="Shape 18"/>
          <p:cNvSpPr/>
          <p:nvPr/>
        </p:nvSpPr>
        <p:spPr>
          <a:xfrm>
            <a:off x="3017520" y="1051560"/>
            <a:ext cx="54864" cy="1417320"/>
          </a:xfrm>
          <a:prstGeom prst="rect">
            <a:avLst/>
          </a:prstGeom>
          <a:solidFill>
            <a:srgbClr val="00F5FF"/>
          </a:solidFill>
          <a:ln w="12700">
            <a:solidFill>
              <a:srgbClr val="00F5FF"/>
            </a:solidFill>
            <a:prstDash val="solid"/>
          </a:ln>
        </p:spPr>
      </p:sp>
      <p:pic>
        <p:nvPicPr>
          <p:cNvPr id="22" name="Image 1" descr="preencoded.png"/>
          <p:cNvPicPr>
            <a:picLocks noChangeAspect="1"/>
          </p:cNvPicPr>
          <p:nvPr/>
        </p:nvPicPr>
        <p:blipFill>
          <a:blip r:embed="rId4"/>
          <a:stretch>
            <a:fillRect/>
          </a:stretch>
        </p:blipFill>
        <p:spPr>
          <a:xfrm>
            <a:off x="3163824" y="1371600"/>
            <a:ext cx="502920" cy="502920"/>
          </a:xfrm>
          <a:prstGeom prst="rect">
            <a:avLst/>
          </a:prstGeom>
        </p:spPr>
      </p:pic>
      <p:sp>
        <p:nvSpPr>
          <p:cNvPr id="23" name="Text 19"/>
          <p:cNvSpPr/>
          <p:nvPr/>
        </p:nvSpPr>
        <p:spPr>
          <a:xfrm>
            <a:off x="3749040" y="1179576"/>
            <a:ext cx="1783080"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Aldo Saúl Vásquez Moreira</a:t>
            </a:r>
            <a:endParaRPr lang="en-US" sz="1050" dirty="0"/>
          </a:p>
        </p:txBody>
      </p:sp>
      <p:sp>
        <p:nvSpPr>
          <p:cNvPr id="24" name="Shape 20"/>
          <p:cNvSpPr/>
          <p:nvPr/>
        </p:nvSpPr>
        <p:spPr>
          <a:xfrm>
            <a:off x="3749040" y="1828800"/>
            <a:ext cx="1737360" cy="320040"/>
          </a:xfrm>
          <a:prstGeom prst="rect">
            <a:avLst/>
          </a:prstGeom>
          <a:solidFill>
            <a:srgbClr val="00F5FF">
              <a:alpha val="25000"/>
            </a:srgbClr>
          </a:solidFill>
          <a:ln w="12700">
            <a:solidFill>
              <a:srgbClr val="00F5FF">
                <a:alpha val="60000"/>
              </a:srgbClr>
            </a:solidFill>
            <a:prstDash val="solid"/>
          </a:ln>
        </p:spPr>
      </p:sp>
      <p:sp>
        <p:nvSpPr>
          <p:cNvPr id="25" name="Text 21"/>
          <p:cNvSpPr/>
          <p:nvPr/>
        </p:nvSpPr>
        <p:spPr>
          <a:xfrm>
            <a:off x="3749040" y="1828800"/>
            <a:ext cx="1737360" cy="320040"/>
          </a:xfrm>
          <a:prstGeom prst="rect">
            <a:avLst/>
          </a:prstGeom>
          <a:noFill/>
          <a:ln/>
        </p:spPr>
        <p:txBody>
          <a:bodyPr wrap="square" lIns="0" tIns="0" rIns="0" bIns="0" rtlCol="0" anchor="ctr"/>
          <a:lstStyle/>
          <a:p>
            <a:pPr marL="0" indent="0" algn="ctr">
              <a:buNone/>
            </a:pPr>
            <a:r>
              <a:rPr lang="en-US" sz="950" b="1" dirty="0">
                <a:solidFill>
                  <a:srgbClr val="00F5FF"/>
                </a:solidFill>
              </a:rPr>
              <a:t>Desarrollo IA</a:t>
            </a:r>
            <a:endParaRPr lang="en-US" sz="950" dirty="0"/>
          </a:p>
        </p:txBody>
      </p:sp>
      <p:sp>
        <p:nvSpPr>
          <p:cNvPr id="26" name="Shape 22"/>
          <p:cNvSpPr/>
          <p:nvPr/>
        </p:nvSpPr>
        <p:spPr>
          <a:xfrm>
            <a:off x="5852160" y="1051560"/>
            <a:ext cx="2606040" cy="1417320"/>
          </a:xfrm>
          <a:prstGeom prst="rect">
            <a:avLst/>
          </a:prstGeom>
          <a:solidFill>
            <a:srgbClr val="0D1F3C"/>
          </a:solidFill>
          <a:ln w="12700">
            <a:solidFill>
              <a:srgbClr val="7C3AED">
                <a:alpha val="50000"/>
              </a:srgbClr>
            </a:solidFill>
            <a:prstDash val="solid"/>
          </a:ln>
          <a:effectLst>
            <a:outerShdw blurRad="152400" dist="38100" dir="8100000" algn="bl" rotWithShape="0">
              <a:srgbClr val="000000">
                <a:alpha val="40000"/>
              </a:srgbClr>
            </a:outerShdw>
          </a:effectLst>
        </p:spPr>
      </p:sp>
      <p:sp>
        <p:nvSpPr>
          <p:cNvPr id="27" name="Shape 23"/>
          <p:cNvSpPr/>
          <p:nvPr/>
        </p:nvSpPr>
        <p:spPr>
          <a:xfrm>
            <a:off x="5852160" y="1051560"/>
            <a:ext cx="54864" cy="1417320"/>
          </a:xfrm>
          <a:prstGeom prst="rect">
            <a:avLst/>
          </a:prstGeom>
          <a:solidFill>
            <a:srgbClr val="7C3AED"/>
          </a:solidFill>
          <a:ln w="12700">
            <a:solidFill>
              <a:srgbClr val="7C3AED"/>
            </a:solidFill>
            <a:prstDash val="solid"/>
          </a:ln>
        </p:spPr>
      </p:sp>
      <p:pic>
        <p:nvPicPr>
          <p:cNvPr id="28" name="Image 2" descr="preencoded.png"/>
          <p:cNvPicPr>
            <a:picLocks noChangeAspect="1"/>
          </p:cNvPicPr>
          <p:nvPr/>
        </p:nvPicPr>
        <p:blipFill>
          <a:blip r:embed="rId5"/>
          <a:stretch>
            <a:fillRect/>
          </a:stretch>
        </p:blipFill>
        <p:spPr>
          <a:xfrm>
            <a:off x="5998464" y="1371600"/>
            <a:ext cx="502920" cy="502920"/>
          </a:xfrm>
          <a:prstGeom prst="rect">
            <a:avLst/>
          </a:prstGeom>
        </p:spPr>
      </p:pic>
      <p:sp>
        <p:nvSpPr>
          <p:cNvPr id="29" name="Text 24"/>
          <p:cNvSpPr/>
          <p:nvPr/>
        </p:nvSpPr>
        <p:spPr>
          <a:xfrm>
            <a:off x="6583680" y="1179576"/>
            <a:ext cx="1783080"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Danilo Eliseo López Barrios</a:t>
            </a:r>
            <a:endParaRPr lang="en-US" sz="1050" dirty="0"/>
          </a:p>
        </p:txBody>
      </p:sp>
      <p:sp>
        <p:nvSpPr>
          <p:cNvPr id="30" name="Shape 25"/>
          <p:cNvSpPr/>
          <p:nvPr/>
        </p:nvSpPr>
        <p:spPr>
          <a:xfrm>
            <a:off x="6583680" y="1828800"/>
            <a:ext cx="1737360" cy="320040"/>
          </a:xfrm>
          <a:prstGeom prst="rect">
            <a:avLst/>
          </a:prstGeom>
          <a:solidFill>
            <a:srgbClr val="7C3AED">
              <a:alpha val="25000"/>
            </a:srgbClr>
          </a:solidFill>
          <a:ln w="12700">
            <a:solidFill>
              <a:srgbClr val="7C3AED">
                <a:alpha val="60000"/>
              </a:srgbClr>
            </a:solidFill>
            <a:prstDash val="solid"/>
          </a:ln>
        </p:spPr>
      </p:sp>
      <p:sp>
        <p:nvSpPr>
          <p:cNvPr id="31" name="Text 26"/>
          <p:cNvSpPr/>
          <p:nvPr/>
        </p:nvSpPr>
        <p:spPr>
          <a:xfrm>
            <a:off x="6583680" y="1828800"/>
            <a:ext cx="1737360" cy="320040"/>
          </a:xfrm>
          <a:prstGeom prst="rect">
            <a:avLst/>
          </a:prstGeom>
          <a:noFill/>
          <a:ln/>
        </p:spPr>
        <p:txBody>
          <a:bodyPr wrap="square" lIns="0" tIns="0" rIns="0" bIns="0" rtlCol="0" anchor="ctr"/>
          <a:lstStyle/>
          <a:p>
            <a:pPr marL="0" indent="0" algn="ctr">
              <a:buNone/>
            </a:pPr>
            <a:r>
              <a:rPr lang="en-US" sz="950" b="1" dirty="0">
                <a:solidFill>
                  <a:srgbClr val="7C3AED"/>
                </a:solidFill>
              </a:rPr>
              <a:t>Desarrollo BOT</a:t>
            </a:r>
            <a:endParaRPr lang="en-US" sz="950" dirty="0"/>
          </a:p>
        </p:txBody>
      </p:sp>
      <p:sp>
        <p:nvSpPr>
          <p:cNvPr id="32" name="Shape 27"/>
          <p:cNvSpPr/>
          <p:nvPr/>
        </p:nvSpPr>
        <p:spPr>
          <a:xfrm>
            <a:off x="1508760" y="2606040"/>
            <a:ext cx="2606040" cy="1417320"/>
          </a:xfrm>
          <a:prstGeom prst="rect">
            <a:avLst/>
          </a:prstGeom>
          <a:solidFill>
            <a:srgbClr val="0D1F3C"/>
          </a:solidFill>
          <a:ln w="12700">
            <a:solidFill>
              <a:srgbClr val="FFD700">
                <a:alpha val="50000"/>
              </a:srgbClr>
            </a:solidFill>
            <a:prstDash val="solid"/>
          </a:ln>
          <a:effectLst>
            <a:outerShdw blurRad="152400" dist="38100" dir="8100000" algn="bl" rotWithShape="0">
              <a:srgbClr val="000000">
                <a:alpha val="40000"/>
              </a:srgbClr>
            </a:outerShdw>
          </a:effectLst>
        </p:spPr>
      </p:sp>
      <p:sp>
        <p:nvSpPr>
          <p:cNvPr id="33" name="Shape 28"/>
          <p:cNvSpPr/>
          <p:nvPr/>
        </p:nvSpPr>
        <p:spPr>
          <a:xfrm>
            <a:off x="1508760" y="2606040"/>
            <a:ext cx="54864" cy="1417320"/>
          </a:xfrm>
          <a:prstGeom prst="rect">
            <a:avLst/>
          </a:prstGeom>
          <a:solidFill>
            <a:srgbClr val="FFD700"/>
          </a:solidFill>
          <a:ln w="12700">
            <a:solidFill>
              <a:srgbClr val="FFD700"/>
            </a:solidFill>
            <a:prstDash val="solid"/>
          </a:ln>
        </p:spPr>
      </p:sp>
      <p:pic>
        <p:nvPicPr>
          <p:cNvPr id="34" name="Image 3" descr="preencoded.png"/>
          <p:cNvPicPr>
            <a:picLocks noChangeAspect="1"/>
          </p:cNvPicPr>
          <p:nvPr/>
        </p:nvPicPr>
        <p:blipFill>
          <a:blip r:embed="rId6"/>
          <a:stretch>
            <a:fillRect/>
          </a:stretch>
        </p:blipFill>
        <p:spPr>
          <a:xfrm>
            <a:off x="1655064" y="2926080"/>
            <a:ext cx="502920" cy="502920"/>
          </a:xfrm>
          <a:prstGeom prst="rect">
            <a:avLst/>
          </a:prstGeom>
        </p:spPr>
      </p:pic>
      <p:sp>
        <p:nvSpPr>
          <p:cNvPr id="35" name="Text 29"/>
          <p:cNvSpPr/>
          <p:nvPr/>
        </p:nvSpPr>
        <p:spPr>
          <a:xfrm>
            <a:off x="2240280" y="2734056"/>
            <a:ext cx="1783080"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Kevin Rai Salazar Pérez</a:t>
            </a:r>
            <a:endParaRPr lang="en-US" sz="1050" dirty="0"/>
          </a:p>
        </p:txBody>
      </p:sp>
      <p:sp>
        <p:nvSpPr>
          <p:cNvPr id="36" name="Shape 30"/>
          <p:cNvSpPr/>
          <p:nvPr/>
        </p:nvSpPr>
        <p:spPr>
          <a:xfrm>
            <a:off x="2240280" y="3383280"/>
            <a:ext cx="1737360" cy="320040"/>
          </a:xfrm>
          <a:prstGeom prst="rect">
            <a:avLst/>
          </a:prstGeom>
          <a:solidFill>
            <a:srgbClr val="FFD700">
              <a:alpha val="25000"/>
            </a:srgbClr>
          </a:solidFill>
          <a:ln w="12700">
            <a:solidFill>
              <a:srgbClr val="FFD700">
                <a:alpha val="60000"/>
              </a:srgbClr>
            </a:solidFill>
            <a:prstDash val="solid"/>
          </a:ln>
        </p:spPr>
      </p:sp>
      <p:sp>
        <p:nvSpPr>
          <p:cNvPr id="37" name="Text 31"/>
          <p:cNvSpPr/>
          <p:nvPr/>
        </p:nvSpPr>
        <p:spPr>
          <a:xfrm>
            <a:off x="2240280" y="3383280"/>
            <a:ext cx="1737360" cy="320040"/>
          </a:xfrm>
          <a:prstGeom prst="rect">
            <a:avLst/>
          </a:prstGeom>
          <a:noFill/>
          <a:ln/>
        </p:spPr>
        <p:txBody>
          <a:bodyPr wrap="square" lIns="0" tIns="0" rIns="0" bIns="0" rtlCol="0" anchor="ctr"/>
          <a:lstStyle/>
          <a:p>
            <a:pPr marL="0" indent="0" algn="ctr">
              <a:buNone/>
            </a:pPr>
            <a:r>
              <a:rPr lang="en-US" sz="950" b="1" dirty="0">
                <a:solidFill>
                  <a:srgbClr val="FFD700"/>
                </a:solidFill>
              </a:rPr>
              <a:t>Analista de Procesos</a:t>
            </a:r>
            <a:endParaRPr lang="en-US" sz="950" dirty="0"/>
          </a:p>
        </p:txBody>
      </p:sp>
      <p:sp>
        <p:nvSpPr>
          <p:cNvPr id="38" name="Shape 32"/>
          <p:cNvSpPr/>
          <p:nvPr/>
        </p:nvSpPr>
        <p:spPr>
          <a:xfrm>
            <a:off x="4297680" y="2606040"/>
            <a:ext cx="2606040" cy="1417320"/>
          </a:xfrm>
          <a:prstGeom prst="rect">
            <a:avLst/>
          </a:prstGeom>
          <a:solidFill>
            <a:srgbClr val="0D1F3C"/>
          </a:solidFill>
          <a:ln w="12700">
            <a:solidFill>
              <a:srgbClr val="FF6B35">
                <a:alpha val="50000"/>
              </a:srgbClr>
            </a:solidFill>
            <a:prstDash val="solid"/>
          </a:ln>
          <a:effectLst>
            <a:outerShdw blurRad="152400" dist="38100" dir="8100000" algn="bl" rotWithShape="0">
              <a:srgbClr val="000000">
                <a:alpha val="40000"/>
              </a:srgbClr>
            </a:outerShdw>
          </a:effectLst>
        </p:spPr>
      </p:sp>
      <p:sp>
        <p:nvSpPr>
          <p:cNvPr id="39" name="Shape 33"/>
          <p:cNvSpPr/>
          <p:nvPr/>
        </p:nvSpPr>
        <p:spPr>
          <a:xfrm>
            <a:off x="4297680" y="2606040"/>
            <a:ext cx="54864" cy="1417320"/>
          </a:xfrm>
          <a:prstGeom prst="rect">
            <a:avLst/>
          </a:prstGeom>
          <a:solidFill>
            <a:srgbClr val="FF6B35"/>
          </a:solidFill>
          <a:ln w="12700">
            <a:solidFill>
              <a:srgbClr val="FF6B35"/>
            </a:solidFill>
            <a:prstDash val="solid"/>
          </a:ln>
        </p:spPr>
      </p:sp>
      <p:pic>
        <p:nvPicPr>
          <p:cNvPr id="40" name="Image 4" descr="preencoded.png"/>
          <p:cNvPicPr>
            <a:picLocks noChangeAspect="1"/>
          </p:cNvPicPr>
          <p:nvPr/>
        </p:nvPicPr>
        <p:blipFill>
          <a:blip r:embed="rId7"/>
          <a:stretch>
            <a:fillRect/>
          </a:stretch>
        </p:blipFill>
        <p:spPr>
          <a:xfrm>
            <a:off x="4443984" y="2926080"/>
            <a:ext cx="502920" cy="502920"/>
          </a:xfrm>
          <a:prstGeom prst="rect">
            <a:avLst/>
          </a:prstGeom>
        </p:spPr>
      </p:pic>
      <p:sp>
        <p:nvSpPr>
          <p:cNvPr id="41" name="Text 34"/>
          <p:cNvSpPr/>
          <p:nvPr/>
        </p:nvSpPr>
        <p:spPr>
          <a:xfrm>
            <a:off x="5029200" y="2734056"/>
            <a:ext cx="1783080"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Iñigo Alvarado Guirola</a:t>
            </a:r>
            <a:endParaRPr lang="en-US" sz="1050" dirty="0"/>
          </a:p>
        </p:txBody>
      </p:sp>
      <p:sp>
        <p:nvSpPr>
          <p:cNvPr id="42" name="Shape 35"/>
          <p:cNvSpPr/>
          <p:nvPr/>
        </p:nvSpPr>
        <p:spPr>
          <a:xfrm>
            <a:off x="5029200" y="3383280"/>
            <a:ext cx="1737360" cy="320040"/>
          </a:xfrm>
          <a:prstGeom prst="rect">
            <a:avLst/>
          </a:prstGeom>
          <a:solidFill>
            <a:srgbClr val="FF6B35">
              <a:alpha val="25000"/>
            </a:srgbClr>
          </a:solidFill>
          <a:ln w="12700">
            <a:solidFill>
              <a:srgbClr val="FF6B35">
                <a:alpha val="60000"/>
              </a:srgbClr>
            </a:solidFill>
            <a:prstDash val="solid"/>
          </a:ln>
        </p:spPr>
      </p:sp>
      <p:sp>
        <p:nvSpPr>
          <p:cNvPr id="43" name="Text 36"/>
          <p:cNvSpPr/>
          <p:nvPr/>
        </p:nvSpPr>
        <p:spPr>
          <a:xfrm>
            <a:off x="5029200" y="3383280"/>
            <a:ext cx="1737360" cy="320040"/>
          </a:xfrm>
          <a:prstGeom prst="rect">
            <a:avLst/>
          </a:prstGeom>
          <a:noFill/>
          <a:ln/>
        </p:spPr>
        <p:txBody>
          <a:bodyPr wrap="square" lIns="0" tIns="0" rIns="0" bIns="0" rtlCol="0" anchor="ctr"/>
          <a:lstStyle/>
          <a:p>
            <a:pPr marL="0" indent="0" algn="ctr">
              <a:buNone/>
            </a:pPr>
            <a:r>
              <a:rPr lang="en-US" sz="950" b="1" dirty="0">
                <a:solidFill>
                  <a:srgbClr val="FF6B35"/>
                </a:solidFill>
              </a:rPr>
              <a:t>Documentación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6B35"/>
          </a:solidFill>
          <a:ln w="12700">
            <a:solidFill>
              <a:srgbClr val="FF6B35"/>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Text 5"/>
          <p:cNvSpPr/>
          <p:nvPr/>
        </p:nvSpPr>
        <p:spPr>
          <a:xfrm>
            <a:off x="457200" y="137160"/>
            <a:ext cx="2743200" cy="320040"/>
          </a:xfrm>
          <a:prstGeom prst="rect">
            <a:avLst/>
          </a:prstGeom>
          <a:noFill/>
          <a:ln/>
        </p:spPr>
        <p:txBody>
          <a:bodyPr wrap="square" lIns="0" tIns="0" rIns="0" bIns="0" rtlCol="0" anchor="ctr"/>
          <a:lstStyle/>
          <a:p>
            <a:pPr marL="0" indent="0">
              <a:buNone/>
            </a:pPr>
            <a:r>
              <a:rPr lang="en-US" sz="1000" b="1" kern="0" spc="400" dirty="0">
                <a:solidFill>
                  <a:srgbClr val="FF6B35"/>
                </a:solidFill>
              </a:rPr>
              <a:t>PROBLEMA</a:t>
            </a:r>
            <a:endParaRPr lang="en-US" sz="1000" dirty="0"/>
          </a:p>
        </p:txBody>
      </p:sp>
      <p:sp>
        <p:nvSpPr>
          <p:cNvPr id="8" name="Text 6"/>
          <p:cNvSpPr/>
          <p:nvPr/>
        </p:nvSpPr>
        <p:spPr>
          <a:xfrm>
            <a:off x="457200" y="41148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Situación Actual</a:t>
            </a:r>
            <a:endParaRPr lang="en-US" sz="2400" dirty="0"/>
          </a:p>
        </p:txBody>
      </p:sp>
      <p:sp>
        <p:nvSpPr>
          <p:cNvPr id="9" name="Shape 7"/>
          <p:cNvSpPr/>
          <p:nvPr/>
        </p:nvSpPr>
        <p:spPr>
          <a:xfrm>
            <a:off x="457200" y="886968"/>
            <a:ext cx="8229600" cy="27432"/>
          </a:xfrm>
          <a:prstGeom prst="rect">
            <a:avLst/>
          </a:prstGeom>
          <a:solidFill>
            <a:srgbClr val="FF6B35">
              <a:alpha val="40000"/>
            </a:srgbClr>
          </a:solidFill>
          <a:ln w="12700">
            <a:solidFill>
              <a:srgbClr val="FF6B35"/>
            </a:solidFill>
            <a:prstDash val="solid"/>
          </a:ln>
        </p:spPr>
      </p:sp>
      <p:sp>
        <p:nvSpPr>
          <p:cNvPr id="10" name="Shape 8"/>
          <p:cNvSpPr/>
          <p:nvPr/>
        </p:nvSpPr>
        <p:spPr>
          <a:xfrm>
            <a:off x="457200" y="1005840"/>
            <a:ext cx="5029200" cy="2377440"/>
          </a:xfrm>
          <a:prstGeom prst="rect">
            <a:avLst/>
          </a:prstGeom>
          <a:solidFill>
            <a:srgbClr val="0D1F3C"/>
          </a:solidFill>
          <a:ln w="12700">
            <a:solidFill>
              <a:srgbClr val="00F5FF">
                <a:alpha val="30000"/>
              </a:srgbClr>
            </a:solidFill>
            <a:prstDash val="solid"/>
          </a:ln>
        </p:spPr>
      </p:sp>
      <p:sp>
        <p:nvSpPr>
          <p:cNvPr id="11" name="Shape 9"/>
          <p:cNvSpPr/>
          <p:nvPr/>
        </p:nvSpPr>
        <p:spPr>
          <a:xfrm>
            <a:off x="457200" y="1005840"/>
            <a:ext cx="5029200" cy="54864"/>
          </a:xfrm>
          <a:prstGeom prst="rect">
            <a:avLst/>
          </a:prstGeom>
          <a:solidFill>
            <a:srgbClr val="FF6B35">
              <a:alpha val="70000"/>
            </a:srgbClr>
          </a:solidFill>
          <a:ln w="12700">
            <a:solidFill>
              <a:srgbClr val="FF6B35"/>
            </a:solidFill>
            <a:prstDash val="solid"/>
          </a:ln>
        </p:spPr>
      </p:sp>
      <p:sp>
        <p:nvSpPr>
          <p:cNvPr id="12" name="Text 10"/>
          <p:cNvSpPr/>
          <p:nvPr/>
        </p:nvSpPr>
        <p:spPr>
          <a:xfrm>
            <a:off x="548640" y="1060704"/>
            <a:ext cx="4846320" cy="347472"/>
          </a:xfrm>
          <a:prstGeom prst="rect">
            <a:avLst/>
          </a:prstGeom>
          <a:noFill/>
          <a:ln/>
        </p:spPr>
        <p:txBody>
          <a:bodyPr wrap="square" lIns="0" tIns="0" rIns="0" bIns="0" rtlCol="0" anchor="ctr"/>
          <a:lstStyle/>
          <a:p>
            <a:pPr marL="0" indent="0">
              <a:buNone/>
            </a:pPr>
            <a:r>
              <a:rPr lang="en-US" sz="1100" b="1" dirty="0">
                <a:solidFill>
                  <a:srgbClr val="FF6B35"/>
                </a:solidFill>
              </a:rPr>
              <a:t>2.1 Descripción del Problema</a:t>
            </a:r>
            <a:endParaRPr lang="en-US" sz="1100" dirty="0"/>
          </a:p>
        </p:txBody>
      </p:sp>
      <p:sp>
        <p:nvSpPr>
          <p:cNvPr id="13" name="Text 11"/>
          <p:cNvSpPr/>
          <p:nvPr/>
        </p:nvSpPr>
        <p:spPr>
          <a:xfrm>
            <a:off x="594360" y="1417320"/>
            <a:ext cx="4754880" cy="1874520"/>
          </a:xfrm>
          <a:prstGeom prst="rect">
            <a:avLst/>
          </a:prstGeom>
          <a:noFill/>
          <a:ln/>
        </p:spPr>
        <p:txBody>
          <a:bodyPr wrap="square" rtlCol="0" anchor="t"/>
          <a:lstStyle/>
          <a:p>
            <a:pPr marL="0" indent="0" algn="l">
              <a:buNone/>
            </a:pPr>
            <a:r>
              <a:rPr lang="en-US" sz="1050" dirty="0">
                <a:solidFill>
                  <a:srgbClr val="8899BB"/>
                </a:solidFill>
                <a:latin typeface="Calibri" pitchFamily="34" charset="0"/>
                <a:ea typeface="Calibri" pitchFamily="34" charset="-122"/>
                <a:cs typeface="Calibri" pitchFamily="34" charset="-120"/>
              </a:rPr>
              <a:t>Actualmente se invierte una cantidad considerable de tiempo en la digitalización de facturas de compra dentro de la corporación. Este proceso requiere la participación de varias personas que podrían dedicar su tiempo a actividades de mayor prioridad.</a:t>
            </a:r>
            <a:endParaRPr lang="en-US" sz="1050" dirty="0"/>
          </a:p>
          <a:p>
            <a:pPr marL="0" indent="0" algn="l">
              <a:buNone/>
            </a:pPr>
            <a:endParaRPr lang="en-US" sz="1050" dirty="0"/>
          </a:p>
          <a:p>
            <a:pPr marL="0" indent="0" algn="l">
              <a:buNone/>
            </a:pPr>
            <a:r>
              <a:rPr lang="en-US" sz="1050" dirty="0">
                <a:solidFill>
                  <a:srgbClr val="8899BB"/>
                </a:solidFill>
                <a:latin typeface="Calibri" pitchFamily="34" charset="0"/>
                <a:ea typeface="Calibri" pitchFamily="34" charset="-122"/>
                <a:cs typeface="Calibri" pitchFamily="34" charset="-120"/>
              </a:rPr>
              <a:t>Además, se debe revisar manualmente que la información de cada factura sea registrada en los rubros contables correctos, incrementando el tiempo y la posibilidad de errores humanos.</a:t>
            </a:r>
            <a:endParaRPr lang="en-US" sz="1050" dirty="0"/>
          </a:p>
        </p:txBody>
      </p:sp>
      <p:sp>
        <p:nvSpPr>
          <p:cNvPr id="14" name="Shape 12"/>
          <p:cNvSpPr/>
          <p:nvPr/>
        </p:nvSpPr>
        <p:spPr>
          <a:xfrm>
            <a:off x="5669280" y="1005840"/>
            <a:ext cx="3017520" cy="804672"/>
          </a:xfrm>
          <a:prstGeom prst="rect">
            <a:avLst/>
          </a:prstGeom>
          <a:solidFill>
            <a:srgbClr val="0D1F3C"/>
          </a:solidFill>
          <a:ln w="12700">
            <a:solidFill>
              <a:srgbClr val="00FF88">
                <a:alpha val="50000"/>
              </a:srgbClr>
            </a:solidFill>
            <a:prstDash val="solid"/>
          </a:ln>
        </p:spPr>
      </p:sp>
      <p:sp>
        <p:nvSpPr>
          <p:cNvPr id="15" name="Shape 13"/>
          <p:cNvSpPr/>
          <p:nvPr/>
        </p:nvSpPr>
        <p:spPr>
          <a:xfrm>
            <a:off x="5669280" y="1005840"/>
            <a:ext cx="54864" cy="804672"/>
          </a:xfrm>
          <a:prstGeom prst="rect">
            <a:avLst/>
          </a:prstGeom>
          <a:solidFill>
            <a:srgbClr val="00FF88"/>
          </a:solidFill>
          <a:ln w="12700">
            <a:solidFill>
              <a:srgbClr val="00FF88"/>
            </a:solidFill>
            <a:prstDash val="solid"/>
          </a:ln>
        </p:spPr>
      </p:sp>
      <p:pic>
        <p:nvPicPr>
          <p:cNvPr id="16" name="Image 0" descr="preencoded.png"/>
          <p:cNvPicPr>
            <a:picLocks noChangeAspect="1"/>
          </p:cNvPicPr>
          <p:nvPr/>
        </p:nvPicPr>
        <p:blipFill>
          <a:blip r:embed="rId3"/>
          <a:stretch>
            <a:fillRect/>
          </a:stretch>
        </p:blipFill>
        <p:spPr>
          <a:xfrm>
            <a:off x="5779008" y="1188720"/>
            <a:ext cx="411480" cy="411480"/>
          </a:xfrm>
          <a:prstGeom prst="rect">
            <a:avLst/>
          </a:prstGeom>
        </p:spPr>
      </p:pic>
      <p:sp>
        <p:nvSpPr>
          <p:cNvPr id="17" name="Text 14"/>
          <p:cNvSpPr/>
          <p:nvPr/>
        </p:nvSpPr>
        <p:spPr>
          <a:xfrm>
            <a:off x="6309360" y="1042416"/>
            <a:ext cx="2286000" cy="384048"/>
          </a:xfrm>
          <a:prstGeom prst="rect">
            <a:avLst/>
          </a:prstGeom>
          <a:noFill/>
          <a:ln/>
        </p:spPr>
        <p:txBody>
          <a:bodyPr wrap="square" lIns="0" tIns="0" rIns="0" bIns="0" rtlCol="0" anchor="ctr"/>
          <a:lstStyle/>
          <a:p>
            <a:pPr marL="0" indent="0">
              <a:buNone/>
            </a:pPr>
            <a:r>
              <a:rPr lang="en-US" sz="2000" b="1" dirty="0">
                <a:solidFill>
                  <a:srgbClr val="00FF88"/>
                </a:solidFill>
              </a:rPr>
              <a:t>3 min</a:t>
            </a:r>
            <a:endParaRPr lang="en-US" sz="2000" dirty="0"/>
          </a:p>
        </p:txBody>
      </p:sp>
      <p:sp>
        <p:nvSpPr>
          <p:cNvPr id="18" name="Text 15"/>
          <p:cNvSpPr/>
          <p:nvPr/>
        </p:nvSpPr>
        <p:spPr>
          <a:xfrm>
            <a:off x="6309360" y="1426464"/>
            <a:ext cx="2286000" cy="347472"/>
          </a:xfrm>
          <a:prstGeom prst="rect">
            <a:avLst/>
          </a:prstGeom>
          <a:noFill/>
          <a:ln/>
        </p:spPr>
        <p:txBody>
          <a:bodyPr wrap="square" lIns="0" tIns="0" rIns="0" bIns="0" rtlCol="0" anchor="ctr"/>
          <a:lstStyle/>
          <a:p>
            <a:pPr marL="0" indent="0">
              <a:buNone/>
            </a:pPr>
            <a:r>
              <a:rPr lang="en-US" sz="900" dirty="0">
                <a:solidFill>
                  <a:srgbClr val="8899BB"/>
                </a:solidFill>
              </a:rPr>
              <a:t>por factura (~5 líneas)</a:t>
            </a:r>
            <a:endParaRPr lang="en-US" sz="900" dirty="0"/>
          </a:p>
        </p:txBody>
      </p:sp>
      <p:sp>
        <p:nvSpPr>
          <p:cNvPr id="19" name="Shape 16"/>
          <p:cNvSpPr/>
          <p:nvPr/>
        </p:nvSpPr>
        <p:spPr>
          <a:xfrm>
            <a:off x="5669280" y="1984248"/>
            <a:ext cx="3017520" cy="804672"/>
          </a:xfrm>
          <a:prstGeom prst="rect">
            <a:avLst/>
          </a:prstGeom>
          <a:solidFill>
            <a:srgbClr val="0D1F3C"/>
          </a:solidFill>
          <a:ln w="12700">
            <a:solidFill>
              <a:srgbClr val="00F5FF">
                <a:alpha val="50000"/>
              </a:srgbClr>
            </a:solidFill>
            <a:prstDash val="solid"/>
          </a:ln>
        </p:spPr>
      </p:sp>
      <p:sp>
        <p:nvSpPr>
          <p:cNvPr id="20" name="Shape 17"/>
          <p:cNvSpPr/>
          <p:nvPr/>
        </p:nvSpPr>
        <p:spPr>
          <a:xfrm>
            <a:off x="5669280" y="1984248"/>
            <a:ext cx="54864" cy="804672"/>
          </a:xfrm>
          <a:prstGeom prst="rect">
            <a:avLst/>
          </a:prstGeom>
          <a:solidFill>
            <a:srgbClr val="00F5FF"/>
          </a:solidFill>
          <a:ln w="12700">
            <a:solidFill>
              <a:srgbClr val="00F5FF"/>
            </a:solidFill>
            <a:prstDash val="solid"/>
          </a:ln>
        </p:spPr>
      </p:sp>
      <p:pic>
        <p:nvPicPr>
          <p:cNvPr id="21" name="Image 1" descr="preencoded.png"/>
          <p:cNvPicPr>
            <a:picLocks noChangeAspect="1"/>
          </p:cNvPicPr>
          <p:nvPr/>
        </p:nvPicPr>
        <p:blipFill>
          <a:blip r:embed="rId4"/>
          <a:stretch>
            <a:fillRect/>
          </a:stretch>
        </p:blipFill>
        <p:spPr>
          <a:xfrm>
            <a:off x="5779008" y="2167128"/>
            <a:ext cx="411480" cy="411480"/>
          </a:xfrm>
          <a:prstGeom prst="rect">
            <a:avLst/>
          </a:prstGeom>
        </p:spPr>
      </p:pic>
      <p:sp>
        <p:nvSpPr>
          <p:cNvPr id="22" name="Text 18"/>
          <p:cNvSpPr/>
          <p:nvPr/>
        </p:nvSpPr>
        <p:spPr>
          <a:xfrm>
            <a:off x="6309360" y="2020824"/>
            <a:ext cx="2286000" cy="384048"/>
          </a:xfrm>
          <a:prstGeom prst="rect">
            <a:avLst/>
          </a:prstGeom>
          <a:noFill/>
          <a:ln/>
        </p:spPr>
        <p:txBody>
          <a:bodyPr wrap="square" lIns="0" tIns="0" rIns="0" bIns="0" rtlCol="0" anchor="ctr"/>
          <a:lstStyle/>
          <a:p>
            <a:pPr marL="0" indent="0">
              <a:buNone/>
            </a:pPr>
            <a:r>
              <a:rPr lang="en-US" sz="2000" b="1" dirty="0">
                <a:solidFill>
                  <a:srgbClr val="00F5FF"/>
                </a:solidFill>
              </a:rPr>
              <a:t>15–25</a:t>
            </a:r>
            <a:endParaRPr lang="en-US" sz="2000" dirty="0"/>
          </a:p>
        </p:txBody>
      </p:sp>
      <p:sp>
        <p:nvSpPr>
          <p:cNvPr id="23" name="Text 19"/>
          <p:cNvSpPr/>
          <p:nvPr/>
        </p:nvSpPr>
        <p:spPr>
          <a:xfrm>
            <a:off x="6309360" y="2404872"/>
            <a:ext cx="2286000" cy="347472"/>
          </a:xfrm>
          <a:prstGeom prst="rect">
            <a:avLst/>
          </a:prstGeom>
          <a:noFill/>
          <a:ln/>
        </p:spPr>
        <p:txBody>
          <a:bodyPr wrap="square" lIns="0" tIns="0" rIns="0" bIns="0" rtlCol="0" anchor="ctr"/>
          <a:lstStyle/>
          <a:p>
            <a:pPr marL="0" indent="0">
              <a:buNone/>
            </a:pPr>
            <a:r>
              <a:rPr lang="en-US" sz="900" dirty="0">
                <a:solidFill>
                  <a:srgbClr val="8899BB"/>
                </a:solidFill>
              </a:rPr>
              <a:t>facturas/semana por persona</a:t>
            </a:r>
            <a:endParaRPr lang="en-US" sz="900" dirty="0"/>
          </a:p>
        </p:txBody>
      </p:sp>
      <p:sp>
        <p:nvSpPr>
          <p:cNvPr id="24" name="Shape 20"/>
          <p:cNvSpPr/>
          <p:nvPr/>
        </p:nvSpPr>
        <p:spPr>
          <a:xfrm>
            <a:off x="5669280" y="2962656"/>
            <a:ext cx="3017520" cy="804672"/>
          </a:xfrm>
          <a:prstGeom prst="rect">
            <a:avLst/>
          </a:prstGeom>
          <a:solidFill>
            <a:srgbClr val="0D1F3C"/>
          </a:solidFill>
          <a:ln w="12700">
            <a:solidFill>
              <a:srgbClr val="7C3AED">
                <a:alpha val="50000"/>
              </a:srgbClr>
            </a:solidFill>
            <a:prstDash val="solid"/>
          </a:ln>
        </p:spPr>
      </p:sp>
      <p:sp>
        <p:nvSpPr>
          <p:cNvPr id="25" name="Shape 21"/>
          <p:cNvSpPr/>
          <p:nvPr/>
        </p:nvSpPr>
        <p:spPr>
          <a:xfrm>
            <a:off x="5669280" y="2962656"/>
            <a:ext cx="54864" cy="804672"/>
          </a:xfrm>
          <a:prstGeom prst="rect">
            <a:avLst/>
          </a:prstGeom>
          <a:solidFill>
            <a:srgbClr val="7C3AED"/>
          </a:solidFill>
          <a:ln w="12700">
            <a:solidFill>
              <a:srgbClr val="7C3AED"/>
            </a:solidFill>
            <a:prstDash val="solid"/>
          </a:ln>
        </p:spPr>
      </p:sp>
      <p:pic>
        <p:nvPicPr>
          <p:cNvPr id="26" name="Image 2" descr="preencoded.png"/>
          <p:cNvPicPr>
            <a:picLocks noChangeAspect="1"/>
          </p:cNvPicPr>
          <p:nvPr/>
        </p:nvPicPr>
        <p:blipFill>
          <a:blip r:embed="rId5"/>
          <a:stretch>
            <a:fillRect/>
          </a:stretch>
        </p:blipFill>
        <p:spPr>
          <a:xfrm>
            <a:off x="5779008" y="3145536"/>
            <a:ext cx="411480" cy="411480"/>
          </a:xfrm>
          <a:prstGeom prst="rect">
            <a:avLst/>
          </a:prstGeom>
        </p:spPr>
      </p:pic>
      <p:sp>
        <p:nvSpPr>
          <p:cNvPr id="27" name="Text 22"/>
          <p:cNvSpPr/>
          <p:nvPr/>
        </p:nvSpPr>
        <p:spPr>
          <a:xfrm>
            <a:off x="6309360" y="2999232"/>
            <a:ext cx="2286000" cy="384048"/>
          </a:xfrm>
          <a:prstGeom prst="rect">
            <a:avLst/>
          </a:prstGeom>
          <a:noFill/>
          <a:ln/>
        </p:spPr>
        <p:txBody>
          <a:bodyPr wrap="square" lIns="0" tIns="0" rIns="0" bIns="0" rtlCol="0" anchor="ctr"/>
          <a:lstStyle/>
          <a:p>
            <a:pPr marL="0" indent="0">
              <a:buNone/>
            </a:pPr>
            <a:r>
              <a:rPr lang="en-US" sz="2000" b="1" dirty="0">
                <a:solidFill>
                  <a:srgbClr val="7C3AED"/>
                </a:solidFill>
              </a:rPr>
              <a:t>25</a:t>
            </a:r>
            <a:endParaRPr lang="en-US" sz="2000" dirty="0"/>
          </a:p>
        </p:txBody>
      </p:sp>
      <p:sp>
        <p:nvSpPr>
          <p:cNvPr id="28" name="Text 23"/>
          <p:cNvSpPr/>
          <p:nvPr/>
        </p:nvSpPr>
        <p:spPr>
          <a:xfrm>
            <a:off x="6309360" y="3383280"/>
            <a:ext cx="2286000" cy="347472"/>
          </a:xfrm>
          <a:prstGeom prst="rect">
            <a:avLst/>
          </a:prstGeom>
          <a:noFill/>
          <a:ln/>
        </p:spPr>
        <p:txBody>
          <a:bodyPr wrap="square" lIns="0" tIns="0" rIns="0" bIns="0" rtlCol="0" anchor="ctr"/>
          <a:lstStyle/>
          <a:p>
            <a:pPr marL="0" indent="0">
              <a:buNone/>
            </a:pPr>
            <a:r>
              <a:rPr lang="en-US" sz="900" dirty="0">
                <a:solidFill>
                  <a:srgbClr val="8899BB"/>
                </a:solidFill>
              </a:rPr>
              <a:t>personas involucradas</a:t>
            </a:r>
            <a:endParaRPr lang="en-US" sz="900" dirty="0"/>
          </a:p>
        </p:txBody>
      </p:sp>
      <p:sp>
        <p:nvSpPr>
          <p:cNvPr id="29" name="Shape 24"/>
          <p:cNvSpPr/>
          <p:nvPr/>
        </p:nvSpPr>
        <p:spPr>
          <a:xfrm>
            <a:off x="5669280" y="3941064"/>
            <a:ext cx="3017520" cy="804672"/>
          </a:xfrm>
          <a:prstGeom prst="rect">
            <a:avLst/>
          </a:prstGeom>
          <a:solidFill>
            <a:srgbClr val="0D1F3C"/>
          </a:solidFill>
          <a:ln w="12700">
            <a:solidFill>
              <a:srgbClr val="FF6B35">
                <a:alpha val="50000"/>
              </a:srgbClr>
            </a:solidFill>
            <a:prstDash val="solid"/>
          </a:ln>
        </p:spPr>
      </p:sp>
      <p:sp>
        <p:nvSpPr>
          <p:cNvPr id="30" name="Shape 25"/>
          <p:cNvSpPr/>
          <p:nvPr/>
        </p:nvSpPr>
        <p:spPr>
          <a:xfrm>
            <a:off x="5669280" y="3941064"/>
            <a:ext cx="54864" cy="804672"/>
          </a:xfrm>
          <a:prstGeom prst="rect">
            <a:avLst/>
          </a:prstGeom>
          <a:solidFill>
            <a:srgbClr val="FF6B35"/>
          </a:solidFill>
          <a:ln w="12700">
            <a:solidFill>
              <a:srgbClr val="FF6B35"/>
            </a:solidFill>
            <a:prstDash val="solid"/>
          </a:ln>
        </p:spPr>
      </p:sp>
      <p:pic>
        <p:nvPicPr>
          <p:cNvPr id="31" name="Image 3" descr="preencoded.png"/>
          <p:cNvPicPr>
            <a:picLocks noChangeAspect="1"/>
          </p:cNvPicPr>
          <p:nvPr/>
        </p:nvPicPr>
        <p:blipFill>
          <a:blip r:embed="rId6"/>
          <a:stretch>
            <a:fillRect/>
          </a:stretch>
        </p:blipFill>
        <p:spPr>
          <a:xfrm>
            <a:off x="5779008" y="4123944"/>
            <a:ext cx="411480" cy="411480"/>
          </a:xfrm>
          <a:prstGeom prst="rect">
            <a:avLst/>
          </a:prstGeom>
        </p:spPr>
      </p:pic>
      <p:sp>
        <p:nvSpPr>
          <p:cNvPr id="32" name="Text 26"/>
          <p:cNvSpPr/>
          <p:nvPr/>
        </p:nvSpPr>
        <p:spPr>
          <a:xfrm>
            <a:off x="6309360" y="3977640"/>
            <a:ext cx="2286000" cy="384048"/>
          </a:xfrm>
          <a:prstGeom prst="rect">
            <a:avLst/>
          </a:prstGeom>
          <a:noFill/>
          <a:ln/>
        </p:spPr>
        <p:txBody>
          <a:bodyPr wrap="square" lIns="0" tIns="0" rIns="0" bIns="0" rtlCol="0" anchor="ctr"/>
          <a:lstStyle/>
          <a:p>
            <a:pPr marL="0" indent="0">
              <a:buNone/>
            </a:pPr>
            <a:r>
              <a:rPr lang="en-US" sz="2000" b="1" dirty="0">
                <a:solidFill>
                  <a:srgbClr val="FF6B35"/>
                </a:solidFill>
              </a:rPr>
              <a:t>PC</a:t>
            </a:r>
            <a:endParaRPr lang="en-US" sz="2000" dirty="0"/>
          </a:p>
        </p:txBody>
      </p:sp>
      <p:sp>
        <p:nvSpPr>
          <p:cNvPr id="33" name="Text 27"/>
          <p:cNvSpPr/>
          <p:nvPr/>
        </p:nvSpPr>
        <p:spPr>
          <a:xfrm>
            <a:off x="6309360" y="4361688"/>
            <a:ext cx="2286000" cy="347472"/>
          </a:xfrm>
          <a:prstGeom prst="rect">
            <a:avLst/>
          </a:prstGeom>
          <a:noFill/>
          <a:ln/>
        </p:spPr>
        <p:txBody>
          <a:bodyPr wrap="square" lIns="0" tIns="0" rIns="0" bIns="0" rtlCol="0" anchor="ctr"/>
          <a:lstStyle/>
          <a:p>
            <a:pPr marL="0" indent="0">
              <a:buNone/>
            </a:pPr>
            <a:r>
              <a:rPr lang="en-US" sz="900" dirty="0">
                <a:solidFill>
                  <a:srgbClr val="8899BB"/>
                </a:solidFill>
              </a:rPr>
              <a:t>requerida para cada registro</a:t>
            </a:r>
            <a:endParaRPr lang="en-US" sz="900" dirty="0"/>
          </a:p>
        </p:txBody>
      </p:sp>
      <p:sp>
        <p:nvSpPr>
          <p:cNvPr id="34" name="Text 28"/>
          <p:cNvSpPr/>
          <p:nvPr/>
        </p:nvSpPr>
        <p:spPr>
          <a:xfrm>
            <a:off x="457200" y="3456432"/>
            <a:ext cx="5029200" cy="274320"/>
          </a:xfrm>
          <a:prstGeom prst="rect">
            <a:avLst/>
          </a:prstGeom>
          <a:noFill/>
          <a:ln/>
        </p:spPr>
        <p:txBody>
          <a:bodyPr wrap="square" lIns="0" tIns="0" rIns="0" bIns="0" rtlCol="0" anchor="ctr"/>
          <a:lstStyle/>
          <a:p>
            <a:pPr marL="0" indent="0">
              <a:buNone/>
            </a:pPr>
            <a:r>
              <a:rPr lang="en-US" sz="1050" b="1" dirty="0">
                <a:solidFill>
                  <a:srgbClr val="00FF88"/>
                </a:solidFill>
              </a:rPr>
              <a:t>2.2 Datos Cuantitativos del Proceso</a:t>
            </a:r>
            <a:endParaRPr lang="en-US" sz="1050" dirty="0"/>
          </a:p>
        </p:txBody>
      </p:sp>
      <p:sp>
        <p:nvSpPr>
          <p:cNvPr id="35" name="Text 29"/>
          <p:cNvSpPr/>
          <p:nvPr/>
        </p:nvSpPr>
        <p:spPr>
          <a:xfrm>
            <a:off x="457200" y="3730752"/>
            <a:ext cx="5029200" cy="365760"/>
          </a:xfrm>
          <a:prstGeom prst="rect">
            <a:avLst/>
          </a:prstGeom>
          <a:noFill/>
          <a:ln/>
        </p:spPr>
        <p:txBody>
          <a:bodyPr wrap="square" rtlCol="0" anchor="ctr"/>
          <a:lstStyle/>
          <a:p>
            <a:pPr marL="0" indent="0">
              <a:buNone/>
            </a:pPr>
            <a:r>
              <a:rPr lang="en-US" sz="950" i="1" dirty="0">
                <a:solidFill>
                  <a:srgbClr val="8899BB"/>
                </a:solidFill>
              </a:rPr>
              <a:t>Los datos reflejan un proceso intensivo en mano de obra con alta exposición a errores manuales.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F5FF"/>
          </a:solidFill>
          <a:ln w="12700">
            <a:solidFill>
              <a:srgbClr val="00F5FF"/>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Text 5"/>
          <p:cNvSpPr/>
          <p:nvPr/>
        </p:nvSpPr>
        <p:spPr>
          <a:xfrm>
            <a:off x="457200" y="137160"/>
            <a:ext cx="2743200" cy="320040"/>
          </a:xfrm>
          <a:prstGeom prst="rect">
            <a:avLst/>
          </a:prstGeom>
          <a:noFill/>
          <a:ln/>
        </p:spPr>
        <p:txBody>
          <a:bodyPr wrap="square" lIns="0" tIns="0" rIns="0" bIns="0" rtlCol="0" anchor="ctr"/>
          <a:lstStyle/>
          <a:p>
            <a:pPr marL="0" indent="0">
              <a:buNone/>
            </a:pPr>
            <a:r>
              <a:rPr lang="en-US" sz="1000" b="1" kern="0" spc="400" dirty="0">
                <a:solidFill>
                  <a:srgbClr val="00F5FF"/>
                </a:solidFill>
              </a:rPr>
              <a:t>SOLUCIÓN</a:t>
            </a:r>
            <a:endParaRPr lang="en-US" sz="1000" dirty="0"/>
          </a:p>
        </p:txBody>
      </p:sp>
      <p:sp>
        <p:nvSpPr>
          <p:cNvPr id="8" name="Text 6"/>
          <p:cNvSpPr/>
          <p:nvPr/>
        </p:nvSpPr>
        <p:spPr>
          <a:xfrm>
            <a:off x="457200" y="41148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Propuesta: Agente IA</a:t>
            </a:r>
            <a:endParaRPr lang="en-US" sz="2400" dirty="0"/>
          </a:p>
        </p:txBody>
      </p:sp>
      <p:sp>
        <p:nvSpPr>
          <p:cNvPr id="9" name="Shape 7"/>
          <p:cNvSpPr/>
          <p:nvPr/>
        </p:nvSpPr>
        <p:spPr>
          <a:xfrm>
            <a:off x="457200" y="886968"/>
            <a:ext cx="8229600" cy="27432"/>
          </a:xfrm>
          <a:prstGeom prst="rect">
            <a:avLst/>
          </a:prstGeom>
          <a:solidFill>
            <a:srgbClr val="00F5FF">
              <a:alpha val="40000"/>
            </a:srgbClr>
          </a:solidFill>
          <a:ln w="12700">
            <a:solidFill>
              <a:srgbClr val="00F5FF"/>
            </a:solidFill>
            <a:prstDash val="solid"/>
          </a:ln>
        </p:spPr>
      </p:sp>
      <p:sp>
        <p:nvSpPr>
          <p:cNvPr id="10" name="Shape 8"/>
          <p:cNvSpPr/>
          <p:nvPr/>
        </p:nvSpPr>
        <p:spPr>
          <a:xfrm>
            <a:off x="457200" y="1005840"/>
            <a:ext cx="8229600" cy="1188720"/>
          </a:xfrm>
          <a:prstGeom prst="rect">
            <a:avLst/>
          </a:prstGeom>
          <a:solidFill>
            <a:srgbClr val="0D1F3C"/>
          </a:solidFill>
          <a:ln w="12700">
            <a:solidFill>
              <a:srgbClr val="00F5FF">
                <a:alpha val="40000"/>
              </a:srgbClr>
            </a:solidFill>
            <a:prstDash val="solid"/>
          </a:ln>
        </p:spPr>
      </p:sp>
      <p:sp>
        <p:nvSpPr>
          <p:cNvPr id="11" name="Text 9"/>
          <p:cNvSpPr/>
          <p:nvPr/>
        </p:nvSpPr>
        <p:spPr>
          <a:xfrm>
            <a:off x="685800" y="1097280"/>
            <a:ext cx="777240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Se desarrollará un CHATBOT inteligente que permitirá a los usuarios tomar una fotografía o adjuntar un PDF de su factura de compra. Mediante inteligencia artificial, el sistema extraerá automáticamente la información relevante, registrará los datos de manera precisa y realizará una clasificación adecuada de los gastos en los rubros contables correspondientes.</a:t>
            </a:r>
            <a:endParaRPr lang="en-US" sz="1150" dirty="0"/>
          </a:p>
        </p:txBody>
      </p:sp>
      <p:sp>
        <p:nvSpPr>
          <p:cNvPr id="12" name="Shape 10"/>
          <p:cNvSpPr/>
          <p:nvPr/>
        </p:nvSpPr>
        <p:spPr>
          <a:xfrm>
            <a:off x="457200" y="2331720"/>
            <a:ext cx="1600200" cy="2331720"/>
          </a:xfrm>
          <a:prstGeom prst="rect">
            <a:avLst/>
          </a:prstGeom>
          <a:solidFill>
            <a:srgbClr val="111B33"/>
          </a:solidFill>
          <a:ln w="12700">
            <a:solidFill>
              <a:srgbClr val="7C3AED">
                <a:alpha val="55000"/>
              </a:srgbClr>
            </a:solidFill>
            <a:prstDash val="solid"/>
          </a:ln>
          <a:effectLst>
            <a:outerShdw blurRad="177800" dist="38100" dir="8100000" algn="bl" rotWithShape="0">
              <a:srgbClr val="000000">
                <a:alpha val="35000"/>
              </a:srgbClr>
            </a:outerShdw>
          </a:effectLst>
        </p:spPr>
      </p:sp>
      <p:sp>
        <p:nvSpPr>
          <p:cNvPr id="13" name="Shape 11"/>
          <p:cNvSpPr/>
          <p:nvPr/>
        </p:nvSpPr>
        <p:spPr>
          <a:xfrm>
            <a:off x="457200" y="2331720"/>
            <a:ext cx="1600200" cy="54864"/>
          </a:xfrm>
          <a:prstGeom prst="rect">
            <a:avLst/>
          </a:prstGeom>
          <a:solidFill>
            <a:srgbClr val="7C3AED"/>
          </a:solidFill>
          <a:ln w="12700">
            <a:solidFill>
              <a:srgbClr val="7C3AED"/>
            </a:solidFill>
            <a:prstDash val="solid"/>
          </a:ln>
        </p:spPr>
      </p:sp>
      <p:sp>
        <p:nvSpPr>
          <p:cNvPr id="14" name="Shape 12"/>
          <p:cNvSpPr/>
          <p:nvPr/>
        </p:nvSpPr>
        <p:spPr>
          <a:xfrm>
            <a:off x="937260" y="2532888"/>
            <a:ext cx="640080" cy="640080"/>
          </a:xfrm>
          <a:prstGeom prst="ellipse">
            <a:avLst/>
          </a:prstGeom>
          <a:solidFill>
            <a:srgbClr val="7C3AED">
              <a:alpha val="25000"/>
            </a:srgbClr>
          </a:solidFill>
          <a:ln w="12700">
            <a:solidFill>
              <a:srgbClr val="7C3AED">
                <a:alpha val="70000"/>
              </a:srgbClr>
            </a:solidFill>
            <a:prstDash val="solid"/>
          </a:ln>
        </p:spPr>
      </p:sp>
      <p:pic>
        <p:nvPicPr>
          <p:cNvPr id="15" name="Image 0" descr="preencoded.png"/>
          <p:cNvPicPr>
            <a:picLocks noChangeAspect="1"/>
          </p:cNvPicPr>
          <p:nvPr/>
        </p:nvPicPr>
        <p:blipFill>
          <a:blip r:embed="rId3"/>
          <a:stretch>
            <a:fillRect/>
          </a:stretch>
        </p:blipFill>
        <p:spPr>
          <a:xfrm>
            <a:off x="1065276" y="2660904"/>
            <a:ext cx="384048" cy="384048"/>
          </a:xfrm>
          <a:prstGeom prst="rect">
            <a:avLst/>
          </a:prstGeom>
        </p:spPr>
      </p:pic>
      <p:sp>
        <p:nvSpPr>
          <p:cNvPr id="16" name="Text 13"/>
          <p:cNvSpPr/>
          <p:nvPr/>
        </p:nvSpPr>
        <p:spPr>
          <a:xfrm>
            <a:off x="548640" y="3319272"/>
            <a:ext cx="1417320" cy="502920"/>
          </a:xfrm>
          <a:prstGeom prst="rect">
            <a:avLst/>
          </a:prstGeom>
          <a:noFill/>
          <a:ln/>
        </p:spPr>
        <p:txBody>
          <a:bodyPr wrap="square" lIns="0" tIns="0" rIns="0" bIns="0" rtlCol="0" anchor="ctr"/>
          <a:lstStyle/>
          <a:p>
            <a:pPr marL="0" indent="0" algn="ctr">
              <a:buNone/>
            </a:pPr>
            <a:r>
              <a:rPr lang="en-US" sz="1000" b="1" dirty="0">
                <a:solidFill>
                  <a:srgbClr val="7C3AED"/>
                </a:solidFill>
              </a:rPr>
              <a:t>Captura desde celular</a:t>
            </a:r>
            <a:endParaRPr lang="en-US" sz="1000" dirty="0"/>
          </a:p>
        </p:txBody>
      </p:sp>
      <p:sp>
        <p:nvSpPr>
          <p:cNvPr id="17" name="Text 14"/>
          <p:cNvSpPr/>
          <p:nvPr/>
        </p:nvSpPr>
        <p:spPr>
          <a:xfrm>
            <a:off x="548640" y="3840480"/>
            <a:ext cx="1417320" cy="685800"/>
          </a:xfrm>
          <a:prstGeom prst="rect">
            <a:avLst/>
          </a:prstGeom>
          <a:noFill/>
          <a:ln/>
        </p:spPr>
        <p:txBody>
          <a:bodyPr wrap="square" lIns="0" tIns="0" rIns="0" bIns="0" rtlCol="0" anchor="ctr"/>
          <a:lstStyle/>
          <a:p>
            <a:pPr marL="0" indent="0" algn="ctr">
              <a:buNone/>
            </a:pPr>
            <a:r>
              <a:rPr lang="en-US" sz="900" dirty="0">
                <a:solidFill>
                  <a:srgbClr val="8899BB"/>
                </a:solidFill>
              </a:rPr>
              <a:t>Foto o PDF desde WhatsApp/Zoho</a:t>
            </a:r>
            <a:endParaRPr lang="en-US" sz="900" dirty="0"/>
          </a:p>
        </p:txBody>
      </p:sp>
      <p:sp>
        <p:nvSpPr>
          <p:cNvPr id="18" name="Shape 15"/>
          <p:cNvSpPr/>
          <p:nvPr/>
        </p:nvSpPr>
        <p:spPr>
          <a:xfrm>
            <a:off x="2228850" y="2331720"/>
            <a:ext cx="1600200" cy="2331720"/>
          </a:xfrm>
          <a:prstGeom prst="rect">
            <a:avLst/>
          </a:prstGeom>
          <a:solidFill>
            <a:srgbClr val="111B33"/>
          </a:solidFill>
          <a:ln w="12700">
            <a:solidFill>
              <a:srgbClr val="00F5FF">
                <a:alpha val="55000"/>
              </a:srgbClr>
            </a:solidFill>
            <a:prstDash val="solid"/>
          </a:ln>
          <a:effectLst>
            <a:outerShdw blurRad="177800" dist="38100" dir="8100000" algn="bl" rotWithShape="0">
              <a:srgbClr val="000000">
                <a:alpha val="35000"/>
              </a:srgbClr>
            </a:outerShdw>
          </a:effectLst>
        </p:spPr>
      </p:sp>
      <p:sp>
        <p:nvSpPr>
          <p:cNvPr id="19" name="Shape 16"/>
          <p:cNvSpPr/>
          <p:nvPr/>
        </p:nvSpPr>
        <p:spPr>
          <a:xfrm>
            <a:off x="2228850" y="2331720"/>
            <a:ext cx="1600200" cy="54864"/>
          </a:xfrm>
          <a:prstGeom prst="rect">
            <a:avLst/>
          </a:prstGeom>
          <a:solidFill>
            <a:srgbClr val="00F5FF"/>
          </a:solidFill>
          <a:ln w="12700">
            <a:solidFill>
              <a:srgbClr val="00F5FF"/>
            </a:solidFill>
            <a:prstDash val="solid"/>
          </a:ln>
        </p:spPr>
      </p:sp>
      <p:sp>
        <p:nvSpPr>
          <p:cNvPr id="20" name="Shape 17"/>
          <p:cNvSpPr/>
          <p:nvPr/>
        </p:nvSpPr>
        <p:spPr>
          <a:xfrm>
            <a:off x="2708910" y="2532888"/>
            <a:ext cx="640080" cy="640080"/>
          </a:xfrm>
          <a:prstGeom prst="ellipse">
            <a:avLst/>
          </a:prstGeom>
          <a:solidFill>
            <a:srgbClr val="00F5FF">
              <a:alpha val="25000"/>
            </a:srgbClr>
          </a:solidFill>
          <a:ln w="12700">
            <a:solidFill>
              <a:srgbClr val="00F5FF">
                <a:alpha val="70000"/>
              </a:srgbClr>
            </a:solidFill>
            <a:prstDash val="solid"/>
          </a:ln>
        </p:spPr>
      </p:sp>
      <p:pic>
        <p:nvPicPr>
          <p:cNvPr id="21" name="Image 1" descr="preencoded.png"/>
          <p:cNvPicPr>
            <a:picLocks noChangeAspect="1"/>
          </p:cNvPicPr>
          <p:nvPr/>
        </p:nvPicPr>
        <p:blipFill>
          <a:blip r:embed="rId4"/>
          <a:stretch>
            <a:fillRect/>
          </a:stretch>
        </p:blipFill>
        <p:spPr>
          <a:xfrm>
            <a:off x="2836926" y="2660904"/>
            <a:ext cx="384048" cy="384048"/>
          </a:xfrm>
          <a:prstGeom prst="rect">
            <a:avLst/>
          </a:prstGeom>
        </p:spPr>
      </p:pic>
      <p:sp>
        <p:nvSpPr>
          <p:cNvPr id="22" name="Text 18"/>
          <p:cNvSpPr/>
          <p:nvPr/>
        </p:nvSpPr>
        <p:spPr>
          <a:xfrm>
            <a:off x="2320290" y="3319272"/>
            <a:ext cx="1417320" cy="502920"/>
          </a:xfrm>
          <a:prstGeom prst="rect">
            <a:avLst/>
          </a:prstGeom>
          <a:noFill/>
          <a:ln/>
        </p:spPr>
        <p:txBody>
          <a:bodyPr wrap="square" lIns="0" tIns="0" rIns="0" bIns="0" rtlCol="0" anchor="ctr"/>
          <a:lstStyle/>
          <a:p>
            <a:pPr marL="0" indent="0" algn="ctr">
              <a:buNone/>
            </a:pPr>
            <a:r>
              <a:rPr lang="en-US" sz="1000" b="1" dirty="0">
                <a:solidFill>
                  <a:srgbClr val="00F5FF"/>
                </a:solidFill>
              </a:rPr>
              <a:t>Extracción con IA</a:t>
            </a:r>
            <a:endParaRPr lang="en-US" sz="1000" dirty="0"/>
          </a:p>
        </p:txBody>
      </p:sp>
      <p:sp>
        <p:nvSpPr>
          <p:cNvPr id="23" name="Text 19"/>
          <p:cNvSpPr/>
          <p:nvPr/>
        </p:nvSpPr>
        <p:spPr>
          <a:xfrm>
            <a:off x="2320290" y="3840480"/>
            <a:ext cx="1417320" cy="685800"/>
          </a:xfrm>
          <a:prstGeom prst="rect">
            <a:avLst/>
          </a:prstGeom>
          <a:noFill/>
          <a:ln/>
        </p:spPr>
        <p:txBody>
          <a:bodyPr wrap="square" lIns="0" tIns="0" rIns="0" bIns="0" rtlCol="0" anchor="ctr"/>
          <a:lstStyle/>
          <a:p>
            <a:pPr marL="0" indent="0" algn="ctr">
              <a:buNone/>
            </a:pPr>
            <a:r>
              <a:rPr lang="en-US" sz="900" dirty="0">
                <a:solidFill>
                  <a:srgbClr val="8899BB"/>
                </a:solidFill>
              </a:rPr>
              <a:t>Gemini AI interpreta la factura</a:t>
            </a:r>
            <a:endParaRPr lang="en-US" sz="900" dirty="0"/>
          </a:p>
        </p:txBody>
      </p:sp>
      <p:sp>
        <p:nvSpPr>
          <p:cNvPr id="24" name="Shape 20"/>
          <p:cNvSpPr/>
          <p:nvPr/>
        </p:nvSpPr>
        <p:spPr>
          <a:xfrm>
            <a:off x="4000500" y="2331720"/>
            <a:ext cx="1600200" cy="2331720"/>
          </a:xfrm>
          <a:prstGeom prst="rect">
            <a:avLst/>
          </a:prstGeom>
          <a:solidFill>
            <a:srgbClr val="111B33"/>
          </a:solidFill>
          <a:ln w="12700">
            <a:solidFill>
              <a:srgbClr val="00FF88">
                <a:alpha val="55000"/>
              </a:srgbClr>
            </a:solidFill>
            <a:prstDash val="solid"/>
          </a:ln>
          <a:effectLst>
            <a:outerShdw blurRad="177800" dist="38100" dir="8100000" algn="bl" rotWithShape="0">
              <a:srgbClr val="000000">
                <a:alpha val="35000"/>
              </a:srgbClr>
            </a:outerShdw>
          </a:effectLst>
        </p:spPr>
      </p:sp>
      <p:sp>
        <p:nvSpPr>
          <p:cNvPr id="25" name="Shape 21"/>
          <p:cNvSpPr/>
          <p:nvPr/>
        </p:nvSpPr>
        <p:spPr>
          <a:xfrm>
            <a:off x="4000500" y="2331720"/>
            <a:ext cx="1600200" cy="54864"/>
          </a:xfrm>
          <a:prstGeom prst="rect">
            <a:avLst/>
          </a:prstGeom>
          <a:solidFill>
            <a:srgbClr val="00FF88"/>
          </a:solidFill>
          <a:ln w="12700">
            <a:solidFill>
              <a:srgbClr val="00FF88"/>
            </a:solidFill>
            <a:prstDash val="solid"/>
          </a:ln>
        </p:spPr>
      </p:sp>
      <p:sp>
        <p:nvSpPr>
          <p:cNvPr id="26" name="Shape 22"/>
          <p:cNvSpPr/>
          <p:nvPr/>
        </p:nvSpPr>
        <p:spPr>
          <a:xfrm>
            <a:off x="4480560" y="2532888"/>
            <a:ext cx="640080" cy="640080"/>
          </a:xfrm>
          <a:prstGeom prst="ellipse">
            <a:avLst/>
          </a:prstGeom>
          <a:solidFill>
            <a:srgbClr val="00FF88">
              <a:alpha val="25000"/>
            </a:srgbClr>
          </a:solidFill>
          <a:ln w="12700">
            <a:solidFill>
              <a:srgbClr val="00FF88">
                <a:alpha val="70000"/>
              </a:srgbClr>
            </a:solidFill>
            <a:prstDash val="solid"/>
          </a:ln>
        </p:spPr>
      </p:sp>
      <p:pic>
        <p:nvPicPr>
          <p:cNvPr id="27" name="Image 2" descr="preencoded.png"/>
          <p:cNvPicPr>
            <a:picLocks noChangeAspect="1"/>
          </p:cNvPicPr>
          <p:nvPr/>
        </p:nvPicPr>
        <p:blipFill>
          <a:blip r:embed="rId5"/>
          <a:stretch>
            <a:fillRect/>
          </a:stretch>
        </p:blipFill>
        <p:spPr>
          <a:xfrm>
            <a:off x="4608576" y="2660904"/>
            <a:ext cx="384048" cy="384048"/>
          </a:xfrm>
          <a:prstGeom prst="rect">
            <a:avLst/>
          </a:prstGeom>
        </p:spPr>
      </p:pic>
      <p:sp>
        <p:nvSpPr>
          <p:cNvPr id="28" name="Text 23"/>
          <p:cNvSpPr/>
          <p:nvPr/>
        </p:nvSpPr>
        <p:spPr>
          <a:xfrm>
            <a:off x="4091940" y="3319272"/>
            <a:ext cx="1417320" cy="502920"/>
          </a:xfrm>
          <a:prstGeom prst="rect">
            <a:avLst/>
          </a:prstGeom>
          <a:noFill/>
          <a:ln/>
        </p:spPr>
        <p:txBody>
          <a:bodyPr wrap="square" lIns="0" tIns="0" rIns="0" bIns="0" rtlCol="0" anchor="ctr"/>
          <a:lstStyle/>
          <a:p>
            <a:pPr marL="0" indent="0" algn="ctr">
              <a:buNone/>
            </a:pPr>
            <a:r>
              <a:rPr lang="en-US" sz="1000" b="1" dirty="0">
                <a:solidFill>
                  <a:srgbClr val="00FF88"/>
                </a:solidFill>
              </a:rPr>
              <a:t>Registro automático</a:t>
            </a:r>
            <a:endParaRPr lang="en-US" sz="1000" dirty="0"/>
          </a:p>
        </p:txBody>
      </p:sp>
      <p:sp>
        <p:nvSpPr>
          <p:cNvPr id="29" name="Text 24"/>
          <p:cNvSpPr/>
          <p:nvPr/>
        </p:nvSpPr>
        <p:spPr>
          <a:xfrm>
            <a:off x="4091940" y="3840480"/>
            <a:ext cx="1417320" cy="685800"/>
          </a:xfrm>
          <a:prstGeom prst="rect">
            <a:avLst/>
          </a:prstGeom>
          <a:noFill/>
          <a:ln/>
        </p:spPr>
        <p:txBody>
          <a:bodyPr wrap="square" lIns="0" tIns="0" rIns="0" bIns="0" rtlCol="0" anchor="ctr"/>
          <a:lstStyle/>
          <a:p>
            <a:pPr marL="0" indent="0" algn="ctr">
              <a:buNone/>
            </a:pPr>
            <a:r>
              <a:rPr lang="en-US" sz="900" dirty="0">
                <a:solidFill>
                  <a:srgbClr val="8899BB"/>
                </a:solidFill>
              </a:rPr>
              <a:t>Datos enviados directamente a DARA</a:t>
            </a:r>
            <a:endParaRPr lang="en-US" sz="900" dirty="0"/>
          </a:p>
        </p:txBody>
      </p:sp>
      <p:sp>
        <p:nvSpPr>
          <p:cNvPr id="30" name="Shape 25"/>
          <p:cNvSpPr/>
          <p:nvPr/>
        </p:nvSpPr>
        <p:spPr>
          <a:xfrm>
            <a:off x="5772150" y="2331720"/>
            <a:ext cx="1600200" cy="2331720"/>
          </a:xfrm>
          <a:prstGeom prst="rect">
            <a:avLst/>
          </a:prstGeom>
          <a:solidFill>
            <a:srgbClr val="111B33"/>
          </a:solidFill>
          <a:ln w="12700">
            <a:solidFill>
              <a:srgbClr val="FFD700">
                <a:alpha val="55000"/>
              </a:srgbClr>
            </a:solidFill>
            <a:prstDash val="solid"/>
          </a:ln>
          <a:effectLst>
            <a:outerShdw blurRad="177800" dist="38100" dir="8100000" algn="bl" rotWithShape="0">
              <a:srgbClr val="000000">
                <a:alpha val="35000"/>
              </a:srgbClr>
            </a:outerShdw>
          </a:effectLst>
        </p:spPr>
      </p:sp>
      <p:sp>
        <p:nvSpPr>
          <p:cNvPr id="31" name="Shape 26"/>
          <p:cNvSpPr/>
          <p:nvPr/>
        </p:nvSpPr>
        <p:spPr>
          <a:xfrm>
            <a:off x="5772150" y="2331720"/>
            <a:ext cx="1600200" cy="54864"/>
          </a:xfrm>
          <a:prstGeom prst="rect">
            <a:avLst/>
          </a:prstGeom>
          <a:solidFill>
            <a:srgbClr val="FFD700"/>
          </a:solidFill>
          <a:ln w="12700">
            <a:solidFill>
              <a:srgbClr val="FFD700"/>
            </a:solidFill>
            <a:prstDash val="solid"/>
          </a:ln>
        </p:spPr>
      </p:sp>
      <p:sp>
        <p:nvSpPr>
          <p:cNvPr id="32" name="Shape 27"/>
          <p:cNvSpPr/>
          <p:nvPr/>
        </p:nvSpPr>
        <p:spPr>
          <a:xfrm>
            <a:off x="6252210" y="2532888"/>
            <a:ext cx="640080" cy="640080"/>
          </a:xfrm>
          <a:prstGeom prst="ellipse">
            <a:avLst/>
          </a:prstGeom>
          <a:solidFill>
            <a:srgbClr val="FFD700">
              <a:alpha val="25000"/>
            </a:srgbClr>
          </a:solidFill>
          <a:ln w="12700">
            <a:solidFill>
              <a:srgbClr val="FFD700">
                <a:alpha val="70000"/>
              </a:srgbClr>
            </a:solidFill>
            <a:prstDash val="solid"/>
          </a:ln>
        </p:spPr>
      </p:sp>
      <p:pic>
        <p:nvPicPr>
          <p:cNvPr id="33" name="Image 3" descr="preencoded.png"/>
          <p:cNvPicPr>
            <a:picLocks noChangeAspect="1"/>
          </p:cNvPicPr>
          <p:nvPr/>
        </p:nvPicPr>
        <p:blipFill>
          <a:blip r:embed="rId6"/>
          <a:stretch>
            <a:fillRect/>
          </a:stretch>
        </p:blipFill>
        <p:spPr>
          <a:xfrm>
            <a:off x="6380226" y="2660904"/>
            <a:ext cx="384048" cy="384048"/>
          </a:xfrm>
          <a:prstGeom prst="rect">
            <a:avLst/>
          </a:prstGeom>
        </p:spPr>
      </p:pic>
      <p:sp>
        <p:nvSpPr>
          <p:cNvPr id="34" name="Text 28"/>
          <p:cNvSpPr/>
          <p:nvPr/>
        </p:nvSpPr>
        <p:spPr>
          <a:xfrm>
            <a:off x="5863590" y="3319272"/>
            <a:ext cx="1417320" cy="502920"/>
          </a:xfrm>
          <a:prstGeom prst="rect">
            <a:avLst/>
          </a:prstGeom>
          <a:noFill/>
          <a:ln/>
        </p:spPr>
        <p:txBody>
          <a:bodyPr wrap="square" lIns="0" tIns="0" rIns="0" bIns="0" rtlCol="0" anchor="ctr"/>
          <a:lstStyle/>
          <a:p>
            <a:pPr marL="0" indent="0" algn="ctr">
              <a:buNone/>
            </a:pPr>
            <a:r>
              <a:rPr lang="en-US" sz="1000" b="1" dirty="0">
                <a:solidFill>
                  <a:srgbClr val="FFD700"/>
                </a:solidFill>
              </a:rPr>
              <a:t>Clasificación contable</a:t>
            </a:r>
            <a:endParaRPr lang="en-US" sz="1000" dirty="0"/>
          </a:p>
        </p:txBody>
      </p:sp>
      <p:sp>
        <p:nvSpPr>
          <p:cNvPr id="35" name="Text 29"/>
          <p:cNvSpPr/>
          <p:nvPr/>
        </p:nvSpPr>
        <p:spPr>
          <a:xfrm>
            <a:off x="5863590" y="3840480"/>
            <a:ext cx="1417320" cy="685800"/>
          </a:xfrm>
          <a:prstGeom prst="rect">
            <a:avLst/>
          </a:prstGeom>
          <a:noFill/>
          <a:ln/>
        </p:spPr>
        <p:txBody>
          <a:bodyPr wrap="square" lIns="0" tIns="0" rIns="0" bIns="0" rtlCol="0" anchor="ctr"/>
          <a:lstStyle/>
          <a:p>
            <a:pPr marL="0" indent="0" algn="ctr">
              <a:buNone/>
            </a:pPr>
            <a:r>
              <a:rPr lang="en-US" sz="900" dirty="0">
                <a:solidFill>
                  <a:srgbClr val="8899BB"/>
                </a:solidFill>
              </a:rPr>
              <a:t>Rubros asignados automáticamente</a:t>
            </a:r>
            <a:endParaRPr lang="en-US" sz="900" dirty="0"/>
          </a:p>
        </p:txBody>
      </p:sp>
      <p:sp>
        <p:nvSpPr>
          <p:cNvPr id="36" name="Shape 30"/>
          <p:cNvSpPr/>
          <p:nvPr/>
        </p:nvSpPr>
        <p:spPr>
          <a:xfrm>
            <a:off x="7543800" y="2331720"/>
            <a:ext cx="1600200" cy="2331720"/>
          </a:xfrm>
          <a:prstGeom prst="rect">
            <a:avLst/>
          </a:prstGeom>
          <a:solidFill>
            <a:srgbClr val="111B33"/>
          </a:solidFill>
          <a:ln w="12700">
            <a:solidFill>
              <a:srgbClr val="FF6B35">
                <a:alpha val="55000"/>
              </a:srgbClr>
            </a:solidFill>
            <a:prstDash val="solid"/>
          </a:ln>
          <a:effectLst>
            <a:outerShdw blurRad="177800" dist="38100" dir="8100000" algn="bl" rotWithShape="0">
              <a:srgbClr val="000000">
                <a:alpha val="35000"/>
              </a:srgbClr>
            </a:outerShdw>
          </a:effectLst>
        </p:spPr>
      </p:sp>
      <p:sp>
        <p:nvSpPr>
          <p:cNvPr id="37" name="Shape 31"/>
          <p:cNvSpPr/>
          <p:nvPr/>
        </p:nvSpPr>
        <p:spPr>
          <a:xfrm>
            <a:off x="7543800" y="2331720"/>
            <a:ext cx="1600200" cy="54864"/>
          </a:xfrm>
          <a:prstGeom prst="rect">
            <a:avLst/>
          </a:prstGeom>
          <a:solidFill>
            <a:srgbClr val="FF6B35"/>
          </a:solidFill>
          <a:ln w="12700">
            <a:solidFill>
              <a:srgbClr val="FF6B35"/>
            </a:solidFill>
            <a:prstDash val="solid"/>
          </a:ln>
        </p:spPr>
      </p:sp>
      <p:sp>
        <p:nvSpPr>
          <p:cNvPr id="38" name="Shape 32"/>
          <p:cNvSpPr/>
          <p:nvPr/>
        </p:nvSpPr>
        <p:spPr>
          <a:xfrm>
            <a:off x="8023860" y="2532888"/>
            <a:ext cx="640080" cy="640080"/>
          </a:xfrm>
          <a:prstGeom prst="ellipse">
            <a:avLst/>
          </a:prstGeom>
          <a:solidFill>
            <a:srgbClr val="FF6B35">
              <a:alpha val="25000"/>
            </a:srgbClr>
          </a:solidFill>
          <a:ln w="12700">
            <a:solidFill>
              <a:srgbClr val="FF6B35">
                <a:alpha val="70000"/>
              </a:srgbClr>
            </a:solidFill>
            <a:prstDash val="solid"/>
          </a:ln>
        </p:spPr>
      </p:sp>
      <p:pic>
        <p:nvPicPr>
          <p:cNvPr id="39" name="Image 4" descr="preencoded.png"/>
          <p:cNvPicPr>
            <a:picLocks noChangeAspect="1"/>
          </p:cNvPicPr>
          <p:nvPr/>
        </p:nvPicPr>
        <p:blipFill>
          <a:blip r:embed="rId7"/>
          <a:stretch>
            <a:fillRect/>
          </a:stretch>
        </p:blipFill>
        <p:spPr>
          <a:xfrm>
            <a:off x="8151876" y="2660904"/>
            <a:ext cx="384048" cy="384048"/>
          </a:xfrm>
          <a:prstGeom prst="rect">
            <a:avLst/>
          </a:prstGeom>
        </p:spPr>
      </p:pic>
      <p:sp>
        <p:nvSpPr>
          <p:cNvPr id="40" name="Text 33"/>
          <p:cNvSpPr/>
          <p:nvPr/>
        </p:nvSpPr>
        <p:spPr>
          <a:xfrm>
            <a:off x="7635240" y="3319272"/>
            <a:ext cx="1417320" cy="502920"/>
          </a:xfrm>
          <a:prstGeom prst="rect">
            <a:avLst/>
          </a:prstGeom>
          <a:noFill/>
          <a:ln/>
        </p:spPr>
        <p:txBody>
          <a:bodyPr wrap="square" lIns="0" tIns="0" rIns="0" bIns="0" rtlCol="0" anchor="ctr"/>
          <a:lstStyle/>
          <a:p>
            <a:pPr marL="0" indent="0" algn="ctr">
              <a:buNone/>
            </a:pPr>
            <a:r>
              <a:rPr lang="en-US" sz="1000" b="1" dirty="0">
                <a:solidFill>
                  <a:srgbClr val="FF6B35"/>
                </a:solidFill>
              </a:rPr>
              <a:t>Sin errores humanos</a:t>
            </a:r>
            <a:endParaRPr lang="en-US" sz="1000" dirty="0"/>
          </a:p>
        </p:txBody>
      </p:sp>
      <p:sp>
        <p:nvSpPr>
          <p:cNvPr id="41" name="Text 34"/>
          <p:cNvSpPr/>
          <p:nvPr/>
        </p:nvSpPr>
        <p:spPr>
          <a:xfrm>
            <a:off x="7635240" y="3840480"/>
            <a:ext cx="1417320" cy="685800"/>
          </a:xfrm>
          <a:prstGeom prst="rect">
            <a:avLst/>
          </a:prstGeom>
          <a:noFill/>
          <a:ln/>
        </p:spPr>
        <p:txBody>
          <a:bodyPr wrap="square" lIns="0" tIns="0" rIns="0" bIns="0" rtlCol="0" anchor="ctr"/>
          <a:lstStyle/>
          <a:p>
            <a:pPr marL="0" indent="0" algn="ctr">
              <a:buNone/>
            </a:pPr>
            <a:r>
              <a:rPr lang="en-US" sz="900" dirty="0">
                <a:solidFill>
                  <a:srgbClr val="8899BB"/>
                </a:solidFill>
              </a:rPr>
              <a:t>Proceso 100% digitalizado y validado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Text 5"/>
          <p:cNvSpPr/>
          <p:nvPr/>
        </p:nvSpPr>
        <p:spPr>
          <a:xfrm>
            <a:off x="457200" y="137160"/>
            <a:ext cx="2743200" cy="320040"/>
          </a:xfrm>
          <a:prstGeom prst="rect">
            <a:avLst/>
          </a:prstGeom>
          <a:noFill/>
          <a:ln/>
        </p:spPr>
        <p:txBody>
          <a:bodyPr wrap="square" lIns="0" tIns="0" rIns="0" bIns="0" rtlCol="0" anchor="ctr"/>
          <a:lstStyle/>
          <a:p>
            <a:pPr marL="0" indent="0">
              <a:buNone/>
            </a:pPr>
            <a:r>
              <a:rPr lang="en-US" sz="1000" b="1" kern="0" spc="400" dirty="0">
                <a:solidFill>
                  <a:srgbClr val="FFD700"/>
                </a:solidFill>
              </a:rPr>
              <a:t>INVERSIÓN</a:t>
            </a:r>
            <a:endParaRPr lang="en-US" sz="1000" dirty="0"/>
          </a:p>
        </p:txBody>
      </p:sp>
      <p:sp>
        <p:nvSpPr>
          <p:cNvPr id="8" name="Text 6"/>
          <p:cNvSpPr/>
          <p:nvPr/>
        </p:nvSpPr>
        <p:spPr>
          <a:xfrm>
            <a:off x="457200" y="41148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Estructura de Costos</a:t>
            </a:r>
            <a:endParaRPr lang="en-US" sz="2400" dirty="0"/>
          </a:p>
        </p:txBody>
      </p:sp>
      <p:sp>
        <p:nvSpPr>
          <p:cNvPr id="9" name="Shape 7"/>
          <p:cNvSpPr/>
          <p:nvPr/>
        </p:nvSpPr>
        <p:spPr>
          <a:xfrm>
            <a:off x="457200" y="886968"/>
            <a:ext cx="8229600" cy="27432"/>
          </a:xfrm>
          <a:prstGeom prst="rect">
            <a:avLst/>
          </a:prstGeom>
          <a:solidFill>
            <a:srgbClr val="FFD700">
              <a:alpha val="40000"/>
            </a:srgbClr>
          </a:solidFill>
          <a:ln w="12700">
            <a:solidFill>
              <a:srgbClr val="FFD700"/>
            </a:solidFill>
            <a:prstDash val="solid"/>
          </a:ln>
        </p:spPr>
      </p:sp>
      <p:sp>
        <p:nvSpPr>
          <p:cNvPr id="10" name="Shape 8"/>
          <p:cNvSpPr/>
          <p:nvPr/>
        </p:nvSpPr>
        <p:spPr>
          <a:xfrm>
            <a:off x="457200" y="1051560"/>
            <a:ext cx="3931920" cy="3337560"/>
          </a:xfrm>
          <a:prstGeom prst="rect">
            <a:avLst/>
          </a:prstGeom>
          <a:solidFill>
            <a:srgbClr val="0D1F3C"/>
          </a:solidFill>
          <a:ln w="12700">
            <a:solidFill>
              <a:srgbClr val="00F5FF">
                <a:alpha val="55000"/>
              </a:srgbClr>
            </a:solidFill>
            <a:prstDash val="solid"/>
          </a:ln>
          <a:effectLst>
            <a:outerShdw blurRad="203200" dist="50800" dir="8100000" algn="bl" rotWithShape="0">
              <a:srgbClr val="000000">
                <a:alpha val="40000"/>
              </a:srgbClr>
            </a:outerShdw>
          </a:effectLst>
        </p:spPr>
      </p:sp>
      <p:sp>
        <p:nvSpPr>
          <p:cNvPr id="11" name="Shape 9"/>
          <p:cNvSpPr/>
          <p:nvPr/>
        </p:nvSpPr>
        <p:spPr>
          <a:xfrm>
            <a:off x="457200" y="1051560"/>
            <a:ext cx="3931920" cy="502920"/>
          </a:xfrm>
          <a:prstGeom prst="rect">
            <a:avLst/>
          </a:prstGeom>
          <a:solidFill>
            <a:srgbClr val="00F5FF">
              <a:alpha val="25000"/>
            </a:srgbClr>
          </a:solidFill>
          <a:ln w="12700">
            <a:solidFill>
              <a:srgbClr val="00F5FF"/>
            </a:solidFill>
            <a:prstDash val="solid"/>
          </a:ln>
        </p:spPr>
      </p:sp>
      <p:pic>
        <p:nvPicPr>
          <p:cNvPr id="12" name="Image 0" descr="preencoded.png"/>
          <p:cNvPicPr>
            <a:picLocks noChangeAspect="1"/>
          </p:cNvPicPr>
          <p:nvPr/>
        </p:nvPicPr>
        <p:blipFill>
          <a:blip r:embed="rId3"/>
          <a:stretch>
            <a:fillRect/>
          </a:stretch>
        </p:blipFill>
        <p:spPr>
          <a:xfrm>
            <a:off x="594360" y="1097280"/>
            <a:ext cx="384048" cy="384048"/>
          </a:xfrm>
          <a:prstGeom prst="rect">
            <a:avLst/>
          </a:prstGeom>
        </p:spPr>
      </p:pic>
      <p:sp>
        <p:nvSpPr>
          <p:cNvPr id="13" name="Text 10"/>
          <p:cNvSpPr/>
          <p:nvPr/>
        </p:nvSpPr>
        <p:spPr>
          <a:xfrm>
            <a:off x="1051560" y="1115568"/>
            <a:ext cx="3200400" cy="384048"/>
          </a:xfrm>
          <a:prstGeom prst="rect">
            <a:avLst/>
          </a:prstGeom>
          <a:noFill/>
          <a:ln/>
        </p:spPr>
        <p:txBody>
          <a:bodyPr wrap="square" lIns="0" tIns="0" rIns="0" bIns="0" rtlCol="0" anchor="ctr"/>
          <a:lstStyle/>
          <a:p>
            <a:pPr marL="0" indent="0">
              <a:buNone/>
            </a:pPr>
            <a:r>
              <a:rPr lang="en-US" sz="1400" b="1" kern="0" spc="200" dirty="0">
                <a:solidFill>
                  <a:srgbClr val="00F5FF"/>
                </a:solidFill>
              </a:rPr>
              <a:t>GEMINI AI</a:t>
            </a:r>
            <a:endParaRPr lang="en-US" sz="1400" dirty="0"/>
          </a:p>
        </p:txBody>
      </p:sp>
      <p:sp>
        <p:nvSpPr>
          <p:cNvPr id="14" name="Text 11"/>
          <p:cNvSpPr/>
          <p:nvPr/>
        </p:nvSpPr>
        <p:spPr>
          <a:xfrm>
            <a:off x="594360" y="1664208"/>
            <a:ext cx="3566160" cy="320040"/>
          </a:xfrm>
          <a:prstGeom prst="rect">
            <a:avLst/>
          </a:prstGeom>
          <a:noFill/>
          <a:ln/>
        </p:spPr>
        <p:txBody>
          <a:bodyPr wrap="square" lIns="0" tIns="0" rIns="0" bIns="0" rtlCol="0" anchor="ctr"/>
          <a:lstStyle/>
          <a:p>
            <a:pPr marL="0" indent="0">
              <a:buNone/>
            </a:pPr>
            <a:r>
              <a:rPr lang="en-US" sz="1100" b="1" dirty="0">
                <a:solidFill>
                  <a:srgbClr val="8899BB"/>
                </a:solidFill>
              </a:rPr>
              <a:t>Modelo de IA</a:t>
            </a:r>
            <a:endParaRPr lang="en-US" sz="1100" dirty="0"/>
          </a:p>
        </p:txBody>
      </p:sp>
      <p:sp>
        <p:nvSpPr>
          <p:cNvPr id="15" name="Text 12"/>
          <p:cNvSpPr/>
          <p:nvPr/>
        </p:nvSpPr>
        <p:spPr>
          <a:xfrm>
            <a:off x="594360" y="1975104"/>
            <a:ext cx="3566160" cy="502920"/>
          </a:xfrm>
          <a:prstGeom prst="rect">
            <a:avLst/>
          </a:prstGeom>
          <a:noFill/>
          <a:ln/>
        </p:spPr>
        <p:txBody>
          <a:bodyPr wrap="square" lIns="0" tIns="0" rIns="0" bIns="0" rtlCol="0" anchor="ctr"/>
          <a:lstStyle/>
          <a:p>
            <a:pPr marL="0" indent="0">
              <a:buNone/>
            </a:pPr>
            <a:r>
              <a:rPr lang="en-US" sz="1050" dirty="0">
                <a:solidFill>
                  <a:srgbClr val="FFFFFF"/>
                </a:solidFill>
              </a:rPr>
              <a:t>Pago por uso (Input/Output tokens e imágenes)</a:t>
            </a:r>
            <a:endParaRPr lang="en-US" sz="1050" dirty="0"/>
          </a:p>
        </p:txBody>
      </p:sp>
      <p:sp>
        <p:nvSpPr>
          <p:cNvPr id="16" name="Shape 13"/>
          <p:cNvSpPr/>
          <p:nvPr/>
        </p:nvSpPr>
        <p:spPr>
          <a:xfrm>
            <a:off x="594360" y="2578608"/>
            <a:ext cx="3566160" cy="685800"/>
          </a:xfrm>
          <a:prstGeom prst="rect">
            <a:avLst/>
          </a:prstGeom>
          <a:solidFill>
            <a:srgbClr val="00F5FF">
              <a:alpha val="15000"/>
            </a:srgbClr>
          </a:solidFill>
          <a:ln w="12700">
            <a:solidFill>
              <a:srgbClr val="00F5FF">
                <a:alpha val="50000"/>
              </a:srgbClr>
            </a:solidFill>
            <a:prstDash val="solid"/>
          </a:ln>
        </p:spPr>
      </p:sp>
      <p:sp>
        <p:nvSpPr>
          <p:cNvPr id="17" name="Text 14"/>
          <p:cNvSpPr/>
          <p:nvPr/>
        </p:nvSpPr>
        <p:spPr>
          <a:xfrm>
            <a:off x="594360" y="2578608"/>
            <a:ext cx="3566160" cy="685800"/>
          </a:xfrm>
          <a:prstGeom prst="rect">
            <a:avLst/>
          </a:prstGeom>
          <a:noFill/>
          <a:ln/>
        </p:spPr>
        <p:txBody>
          <a:bodyPr wrap="square" lIns="0" tIns="0" rIns="0" bIns="0" rtlCol="0" anchor="ctr"/>
          <a:lstStyle/>
          <a:p>
            <a:pPr marL="0" indent="0" algn="ctr">
              <a:buNone/>
            </a:pPr>
            <a:r>
              <a:rPr lang="en-US" sz="2200" b="1" dirty="0">
                <a:solidFill>
                  <a:srgbClr val="00F5FF"/>
                </a:solidFill>
              </a:rPr>
              <a:t>$15.00 – $30.00</a:t>
            </a:r>
            <a:endParaRPr lang="en-US" sz="2200" dirty="0"/>
          </a:p>
        </p:txBody>
      </p:sp>
      <p:sp>
        <p:nvSpPr>
          <p:cNvPr id="18" name="Text 15"/>
          <p:cNvSpPr/>
          <p:nvPr/>
        </p:nvSpPr>
        <p:spPr>
          <a:xfrm>
            <a:off x="594360" y="3291840"/>
            <a:ext cx="3566160" cy="320040"/>
          </a:xfrm>
          <a:prstGeom prst="rect">
            <a:avLst/>
          </a:prstGeom>
          <a:noFill/>
          <a:ln/>
        </p:spPr>
        <p:txBody>
          <a:bodyPr wrap="square" lIns="0" tIns="0" rIns="0" bIns="0" rtlCol="0" anchor="ctr"/>
          <a:lstStyle/>
          <a:p>
            <a:pPr marL="0" indent="0" algn="ctr">
              <a:buNone/>
            </a:pPr>
            <a:r>
              <a:rPr lang="en-US" sz="950" dirty="0">
                <a:solidFill>
                  <a:srgbClr val="8899BB"/>
                </a:solidFill>
              </a:rPr>
              <a:t>Basado en ~400 facturas/mes</a:t>
            </a:r>
            <a:endParaRPr lang="en-US" sz="950" dirty="0"/>
          </a:p>
        </p:txBody>
      </p:sp>
      <p:sp>
        <p:nvSpPr>
          <p:cNvPr id="19" name="Shape 16"/>
          <p:cNvSpPr/>
          <p:nvPr/>
        </p:nvSpPr>
        <p:spPr>
          <a:xfrm>
            <a:off x="658368" y="3703320"/>
            <a:ext cx="228600" cy="228600"/>
          </a:xfrm>
          <a:prstGeom prst="ellipse">
            <a:avLst/>
          </a:prstGeom>
          <a:solidFill>
            <a:srgbClr val="00FF88">
              <a:alpha val="70000"/>
            </a:srgbClr>
          </a:solidFill>
          <a:ln w="12700">
            <a:solidFill>
              <a:srgbClr val="00FF88">
                <a:alpha val="80000"/>
              </a:srgbClr>
            </a:solidFill>
            <a:prstDash val="solid"/>
          </a:ln>
        </p:spPr>
      </p:sp>
      <p:sp>
        <p:nvSpPr>
          <p:cNvPr id="20" name="Text 17"/>
          <p:cNvSpPr/>
          <p:nvPr/>
        </p:nvSpPr>
        <p:spPr>
          <a:xfrm>
            <a:off x="960120" y="3703320"/>
            <a:ext cx="3337560" cy="365760"/>
          </a:xfrm>
          <a:prstGeom prst="rect">
            <a:avLst/>
          </a:prstGeom>
          <a:noFill/>
          <a:ln/>
        </p:spPr>
        <p:txBody>
          <a:bodyPr wrap="square" lIns="0" tIns="0" rIns="0" bIns="0" rtlCol="0" anchor="ctr"/>
          <a:lstStyle/>
          <a:p>
            <a:pPr marL="0" indent="0">
              <a:buNone/>
            </a:pPr>
            <a:r>
              <a:rPr lang="en-US" sz="900" i="1" dirty="0">
                <a:solidFill>
                  <a:srgbClr val="8899BB"/>
                </a:solidFill>
              </a:rPr>
              <a:t>Escalable según volumen de facturas procesadas mensualmente</a:t>
            </a:r>
            <a:endParaRPr lang="en-US" sz="900" dirty="0"/>
          </a:p>
        </p:txBody>
      </p:sp>
      <p:sp>
        <p:nvSpPr>
          <p:cNvPr id="21" name="Shape 18"/>
          <p:cNvSpPr/>
          <p:nvPr/>
        </p:nvSpPr>
        <p:spPr>
          <a:xfrm>
            <a:off x="4754880" y="1051560"/>
            <a:ext cx="3931920" cy="3337560"/>
          </a:xfrm>
          <a:prstGeom prst="rect">
            <a:avLst/>
          </a:prstGeom>
          <a:solidFill>
            <a:srgbClr val="0D1F3C"/>
          </a:solidFill>
          <a:ln w="12700">
            <a:solidFill>
              <a:srgbClr val="7C3AED">
                <a:alpha val="55000"/>
              </a:srgbClr>
            </a:solidFill>
            <a:prstDash val="solid"/>
          </a:ln>
          <a:effectLst>
            <a:outerShdw blurRad="203200" dist="50800" dir="8100000" algn="bl" rotWithShape="0">
              <a:srgbClr val="000000">
                <a:alpha val="40000"/>
              </a:srgbClr>
            </a:outerShdw>
          </a:effectLst>
        </p:spPr>
      </p:sp>
      <p:sp>
        <p:nvSpPr>
          <p:cNvPr id="22" name="Shape 19"/>
          <p:cNvSpPr/>
          <p:nvPr/>
        </p:nvSpPr>
        <p:spPr>
          <a:xfrm>
            <a:off x="4754880" y="1051560"/>
            <a:ext cx="3931920" cy="502920"/>
          </a:xfrm>
          <a:prstGeom prst="rect">
            <a:avLst/>
          </a:prstGeom>
          <a:solidFill>
            <a:srgbClr val="7C3AED">
              <a:alpha val="25000"/>
            </a:srgbClr>
          </a:solidFill>
          <a:ln w="12700">
            <a:solidFill>
              <a:srgbClr val="7C3AED"/>
            </a:solidFill>
            <a:prstDash val="solid"/>
          </a:ln>
        </p:spPr>
      </p:sp>
      <p:pic>
        <p:nvPicPr>
          <p:cNvPr id="23" name="Image 1" descr="preencoded.png"/>
          <p:cNvPicPr>
            <a:picLocks noChangeAspect="1"/>
          </p:cNvPicPr>
          <p:nvPr/>
        </p:nvPicPr>
        <p:blipFill>
          <a:blip r:embed="rId4"/>
          <a:stretch>
            <a:fillRect/>
          </a:stretch>
        </p:blipFill>
        <p:spPr>
          <a:xfrm>
            <a:off x="4892040" y="1097280"/>
            <a:ext cx="384048" cy="384048"/>
          </a:xfrm>
          <a:prstGeom prst="rect">
            <a:avLst/>
          </a:prstGeom>
        </p:spPr>
      </p:pic>
      <p:sp>
        <p:nvSpPr>
          <p:cNvPr id="24" name="Text 20"/>
          <p:cNvSpPr/>
          <p:nvPr/>
        </p:nvSpPr>
        <p:spPr>
          <a:xfrm>
            <a:off x="5349240" y="1115568"/>
            <a:ext cx="3200400" cy="384048"/>
          </a:xfrm>
          <a:prstGeom prst="rect">
            <a:avLst/>
          </a:prstGeom>
          <a:noFill/>
          <a:ln/>
        </p:spPr>
        <p:txBody>
          <a:bodyPr wrap="square" lIns="0" tIns="0" rIns="0" bIns="0" rtlCol="0" anchor="ctr"/>
          <a:lstStyle/>
          <a:p>
            <a:pPr marL="0" indent="0">
              <a:buNone/>
            </a:pPr>
            <a:r>
              <a:rPr lang="en-US" sz="1400" b="1" kern="0" spc="100" dirty="0">
                <a:solidFill>
                  <a:srgbClr val="7C3AED"/>
                </a:solidFill>
              </a:rPr>
              <a:t>ZOHO CHATBOT</a:t>
            </a:r>
            <a:endParaRPr lang="en-US" sz="1400" dirty="0"/>
          </a:p>
        </p:txBody>
      </p:sp>
      <p:sp>
        <p:nvSpPr>
          <p:cNvPr id="25" name="Text 21"/>
          <p:cNvSpPr/>
          <p:nvPr/>
        </p:nvSpPr>
        <p:spPr>
          <a:xfrm>
            <a:off x="4892040" y="1664208"/>
            <a:ext cx="3566160" cy="320040"/>
          </a:xfrm>
          <a:prstGeom prst="rect">
            <a:avLst/>
          </a:prstGeom>
          <a:noFill/>
          <a:ln/>
        </p:spPr>
        <p:txBody>
          <a:bodyPr wrap="square" lIns="0" tIns="0" rIns="0" bIns="0" rtlCol="0" anchor="ctr"/>
          <a:lstStyle/>
          <a:p>
            <a:pPr marL="0" indent="0">
              <a:buNone/>
            </a:pPr>
            <a:r>
              <a:rPr lang="en-US" sz="1100" b="1" dirty="0">
                <a:solidFill>
                  <a:srgbClr val="8899BB"/>
                </a:solidFill>
              </a:rPr>
              <a:t>Plataforma de Chatbot</a:t>
            </a:r>
            <a:endParaRPr lang="en-US" sz="1100" dirty="0"/>
          </a:p>
        </p:txBody>
      </p:sp>
      <p:sp>
        <p:nvSpPr>
          <p:cNvPr id="26" name="Text 22"/>
          <p:cNvSpPr/>
          <p:nvPr/>
        </p:nvSpPr>
        <p:spPr>
          <a:xfrm>
            <a:off x="4892040" y="1975104"/>
            <a:ext cx="3566160" cy="502920"/>
          </a:xfrm>
          <a:prstGeom prst="rect">
            <a:avLst/>
          </a:prstGeom>
          <a:noFill/>
          <a:ln/>
        </p:spPr>
        <p:txBody>
          <a:bodyPr wrap="square" lIns="0" tIns="0" rIns="0" bIns="0" rtlCol="0" anchor="ctr"/>
          <a:lstStyle/>
          <a:p>
            <a:pPr marL="0" indent="0">
              <a:buNone/>
            </a:pPr>
            <a:r>
              <a:rPr lang="en-US" sz="1050" dirty="0">
                <a:solidFill>
                  <a:srgbClr val="FFFFFF"/>
                </a:solidFill>
              </a:rPr>
              <a:t>Licencia de plataforma — Único pago por nuevo número</a:t>
            </a:r>
            <a:endParaRPr lang="en-US" sz="1050" dirty="0"/>
          </a:p>
        </p:txBody>
      </p:sp>
      <p:sp>
        <p:nvSpPr>
          <p:cNvPr id="27" name="Shape 23"/>
          <p:cNvSpPr/>
          <p:nvPr/>
        </p:nvSpPr>
        <p:spPr>
          <a:xfrm>
            <a:off x="4892040" y="2578608"/>
            <a:ext cx="3566160" cy="685800"/>
          </a:xfrm>
          <a:prstGeom prst="rect">
            <a:avLst/>
          </a:prstGeom>
          <a:solidFill>
            <a:srgbClr val="7C3AED">
              <a:alpha val="15000"/>
            </a:srgbClr>
          </a:solidFill>
          <a:ln w="12700">
            <a:solidFill>
              <a:srgbClr val="7C3AED">
                <a:alpha val="50000"/>
              </a:srgbClr>
            </a:solidFill>
            <a:prstDash val="solid"/>
          </a:ln>
        </p:spPr>
      </p:sp>
      <p:sp>
        <p:nvSpPr>
          <p:cNvPr id="28" name="Text 24"/>
          <p:cNvSpPr/>
          <p:nvPr/>
        </p:nvSpPr>
        <p:spPr>
          <a:xfrm>
            <a:off x="4892040" y="2578608"/>
            <a:ext cx="3566160" cy="685800"/>
          </a:xfrm>
          <a:prstGeom prst="rect">
            <a:avLst/>
          </a:prstGeom>
          <a:noFill/>
          <a:ln/>
        </p:spPr>
        <p:txBody>
          <a:bodyPr wrap="square" lIns="0" tIns="0" rIns="0" bIns="0" rtlCol="0" anchor="ctr"/>
          <a:lstStyle/>
          <a:p>
            <a:pPr marL="0" indent="0" algn="ctr">
              <a:buNone/>
            </a:pPr>
            <a:r>
              <a:rPr lang="en-US" sz="2200" b="1" dirty="0">
                <a:solidFill>
                  <a:srgbClr val="7C3AED"/>
                </a:solidFill>
              </a:rPr>
              <a:t>$20.00 – $40.00</a:t>
            </a:r>
            <a:endParaRPr lang="en-US" sz="2200" dirty="0"/>
          </a:p>
        </p:txBody>
      </p:sp>
      <p:sp>
        <p:nvSpPr>
          <p:cNvPr id="29" name="Text 25"/>
          <p:cNvSpPr/>
          <p:nvPr/>
        </p:nvSpPr>
        <p:spPr>
          <a:xfrm>
            <a:off x="4892040" y="3291840"/>
            <a:ext cx="3566160" cy="320040"/>
          </a:xfrm>
          <a:prstGeom prst="rect">
            <a:avLst/>
          </a:prstGeom>
          <a:noFill/>
          <a:ln/>
        </p:spPr>
        <p:txBody>
          <a:bodyPr wrap="square" lIns="0" tIns="0" rIns="0" bIns="0" rtlCol="0" anchor="ctr"/>
          <a:lstStyle/>
          <a:p>
            <a:pPr marL="0" indent="0" algn="ctr">
              <a:buNone/>
            </a:pPr>
            <a:r>
              <a:rPr lang="en-US" sz="950" dirty="0">
                <a:solidFill>
                  <a:srgbClr val="8899BB"/>
                </a:solidFill>
              </a:rPr>
              <a:t>Implementación + nuevo número</a:t>
            </a:r>
            <a:endParaRPr lang="en-US" sz="950" dirty="0"/>
          </a:p>
        </p:txBody>
      </p:sp>
      <p:sp>
        <p:nvSpPr>
          <p:cNvPr id="30" name="Shape 26"/>
          <p:cNvSpPr/>
          <p:nvPr/>
        </p:nvSpPr>
        <p:spPr>
          <a:xfrm>
            <a:off x="4956048" y="3703320"/>
            <a:ext cx="228600" cy="228600"/>
          </a:xfrm>
          <a:prstGeom prst="ellipse">
            <a:avLst/>
          </a:prstGeom>
          <a:solidFill>
            <a:srgbClr val="FFD700">
              <a:alpha val="70000"/>
            </a:srgbClr>
          </a:solidFill>
          <a:ln w="12700">
            <a:solidFill>
              <a:srgbClr val="FFD700">
                <a:alpha val="80000"/>
              </a:srgbClr>
            </a:solidFill>
            <a:prstDash val="solid"/>
          </a:ln>
        </p:spPr>
      </p:sp>
      <p:sp>
        <p:nvSpPr>
          <p:cNvPr id="31" name="Text 27"/>
          <p:cNvSpPr/>
          <p:nvPr/>
        </p:nvSpPr>
        <p:spPr>
          <a:xfrm>
            <a:off x="5257800" y="3703320"/>
            <a:ext cx="3337560" cy="365760"/>
          </a:xfrm>
          <a:prstGeom prst="rect">
            <a:avLst/>
          </a:prstGeom>
          <a:noFill/>
          <a:ln/>
        </p:spPr>
        <p:txBody>
          <a:bodyPr wrap="square" lIns="0" tIns="0" rIns="0" bIns="0" rtlCol="0" anchor="ctr"/>
          <a:lstStyle/>
          <a:p>
            <a:pPr marL="0" indent="0">
              <a:buNone/>
            </a:pPr>
            <a:r>
              <a:rPr lang="en-US" sz="900" i="1" dirty="0">
                <a:solidFill>
                  <a:srgbClr val="8899BB"/>
                </a:solidFill>
              </a:rPr>
              <a:t>Las licencias actuales ya funcionan — solo se requiere configuración</a:t>
            </a:r>
            <a:endParaRPr lang="en-US" sz="900" dirty="0"/>
          </a:p>
        </p:txBody>
      </p:sp>
      <p:sp>
        <p:nvSpPr>
          <p:cNvPr id="32" name="Shape 28"/>
          <p:cNvSpPr/>
          <p:nvPr/>
        </p:nvSpPr>
        <p:spPr>
          <a:xfrm>
            <a:off x="457200" y="4480560"/>
            <a:ext cx="8229600" cy="475488"/>
          </a:xfrm>
          <a:prstGeom prst="rect">
            <a:avLst/>
          </a:prstGeom>
          <a:solidFill>
            <a:srgbClr val="FFD700">
              <a:alpha val="20000"/>
            </a:srgbClr>
          </a:solidFill>
          <a:ln w="12700">
            <a:solidFill>
              <a:srgbClr val="FFD700">
                <a:alpha val="60000"/>
              </a:srgbClr>
            </a:solidFill>
            <a:prstDash val="solid"/>
          </a:ln>
        </p:spPr>
      </p:sp>
      <p:sp>
        <p:nvSpPr>
          <p:cNvPr id="33" name="Text 29"/>
          <p:cNvSpPr/>
          <p:nvPr/>
        </p:nvSpPr>
        <p:spPr>
          <a:xfrm>
            <a:off x="640080" y="4480560"/>
            <a:ext cx="4114800" cy="475488"/>
          </a:xfrm>
          <a:prstGeom prst="rect">
            <a:avLst/>
          </a:prstGeom>
          <a:noFill/>
          <a:ln/>
        </p:spPr>
        <p:txBody>
          <a:bodyPr wrap="square" lIns="0" tIns="0" rIns="0" bIns="0" rtlCol="0" anchor="ctr"/>
          <a:lstStyle/>
          <a:p>
            <a:pPr marL="0" indent="0">
              <a:buNone/>
            </a:pPr>
            <a:r>
              <a:rPr lang="en-US" sz="1200" b="1" dirty="0">
                <a:solidFill>
                  <a:srgbClr val="FFD700"/>
                </a:solidFill>
              </a:rPr>
              <a:t>Inversión Total Estimada:</a:t>
            </a:r>
            <a:endParaRPr lang="en-US" sz="1200" dirty="0"/>
          </a:p>
        </p:txBody>
      </p:sp>
      <p:sp>
        <p:nvSpPr>
          <p:cNvPr id="34" name="Text 30"/>
          <p:cNvSpPr/>
          <p:nvPr/>
        </p:nvSpPr>
        <p:spPr>
          <a:xfrm>
            <a:off x="4754880" y="4480560"/>
            <a:ext cx="3749040" cy="475488"/>
          </a:xfrm>
          <a:prstGeom prst="rect">
            <a:avLst/>
          </a:prstGeom>
          <a:noFill/>
          <a:ln/>
        </p:spPr>
        <p:txBody>
          <a:bodyPr wrap="square" lIns="0" tIns="0" rIns="0" bIns="0" rtlCol="0" anchor="ctr"/>
          <a:lstStyle/>
          <a:p>
            <a:pPr marL="0" indent="0" algn="r">
              <a:buNone/>
            </a:pPr>
            <a:r>
              <a:rPr lang="en-US" sz="1400" b="1" dirty="0">
                <a:solidFill>
                  <a:srgbClr val="FFFFFF"/>
                </a:solidFill>
              </a:rPr>
              <a:t>$35.00 – $70.00 / mes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FF88"/>
          </a:solidFill>
          <a:ln w="12700">
            <a:solidFill>
              <a:srgbClr val="00FF88"/>
            </a:solidFill>
            <a:prstDash val="solid"/>
          </a:ln>
        </p:spPr>
      </p:sp>
      <p:sp>
        <p:nvSpPr>
          <p:cNvPr id="3" name="Shape 1"/>
          <p:cNvSpPr/>
          <p:nvPr/>
        </p:nvSpPr>
        <p:spPr>
          <a:xfrm>
            <a:off x="137160" y="182880"/>
            <a:ext cx="109728" cy="109728"/>
          </a:xfrm>
          <a:prstGeom prst="ellipse">
            <a:avLst/>
          </a:prstGeom>
          <a:solidFill>
            <a:srgbClr val="00F5FF">
              <a:alpha val="20000"/>
            </a:srgbClr>
          </a:solidFill>
          <a:ln w="12700">
            <a:solidFill>
              <a:srgbClr val="00F5FF">
                <a:alpha val="50000"/>
              </a:srgbClr>
            </a:solidFill>
            <a:prstDash val="solid"/>
          </a:ln>
        </p:spPr>
      </p:sp>
      <p:sp>
        <p:nvSpPr>
          <p:cNvPr id="4" name="Shape 2"/>
          <p:cNvSpPr/>
          <p:nvPr/>
        </p:nvSpPr>
        <p:spPr>
          <a:xfrm>
            <a:off x="8869680" y="4754880"/>
            <a:ext cx="109728" cy="109728"/>
          </a:xfrm>
          <a:prstGeom prst="ellipse">
            <a:avLst/>
          </a:prstGeom>
          <a:solidFill>
            <a:srgbClr val="7C3AED">
              <a:alpha val="20000"/>
            </a:srgbClr>
          </a:solidFill>
          <a:ln w="12700">
            <a:solidFill>
              <a:srgbClr val="7C3AED">
                <a:alpha val="50000"/>
              </a:srgbClr>
            </a:solidFill>
            <a:prstDash val="solid"/>
          </a:ln>
        </p:spPr>
      </p:sp>
      <p:sp>
        <p:nvSpPr>
          <p:cNvPr id="5" name="Shape 3"/>
          <p:cNvSpPr/>
          <p:nvPr/>
        </p:nvSpPr>
        <p:spPr>
          <a:xfrm>
            <a:off x="274320" y="4572000"/>
            <a:ext cx="109728" cy="109728"/>
          </a:xfrm>
          <a:prstGeom prst="ellipse">
            <a:avLst/>
          </a:prstGeom>
          <a:solidFill>
            <a:srgbClr val="00FF88">
              <a:alpha val="15000"/>
            </a:srgbClr>
          </a:solidFill>
          <a:ln w="12700">
            <a:solidFill>
              <a:srgbClr val="00FF88">
                <a:alpha val="50000"/>
              </a:srgbClr>
            </a:solidFill>
            <a:prstDash val="solid"/>
          </a:ln>
        </p:spPr>
      </p:sp>
      <p:sp>
        <p:nvSpPr>
          <p:cNvPr id="6" name="Shape 4"/>
          <p:cNvSpPr/>
          <p:nvPr/>
        </p:nvSpPr>
        <p:spPr>
          <a:xfrm>
            <a:off x="8686800" y="274320"/>
            <a:ext cx="109728" cy="109728"/>
          </a:xfrm>
          <a:prstGeom prst="ellipse">
            <a:avLst/>
          </a:prstGeom>
          <a:solidFill>
            <a:srgbClr val="FF6B35">
              <a:alpha val="15000"/>
            </a:srgbClr>
          </a:solidFill>
          <a:ln w="12700">
            <a:solidFill>
              <a:srgbClr val="FF6B35">
                <a:alpha val="50000"/>
              </a:srgbClr>
            </a:solidFill>
            <a:prstDash val="solid"/>
          </a:ln>
        </p:spPr>
      </p:sp>
      <p:sp>
        <p:nvSpPr>
          <p:cNvPr id="7" name="Text 5"/>
          <p:cNvSpPr/>
          <p:nvPr/>
        </p:nvSpPr>
        <p:spPr>
          <a:xfrm>
            <a:off x="457200" y="137160"/>
            <a:ext cx="2743200" cy="320040"/>
          </a:xfrm>
          <a:prstGeom prst="rect">
            <a:avLst/>
          </a:prstGeom>
          <a:noFill/>
          <a:ln/>
        </p:spPr>
        <p:txBody>
          <a:bodyPr wrap="square" lIns="0" tIns="0" rIns="0" bIns="0" rtlCol="0" anchor="ctr"/>
          <a:lstStyle/>
          <a:p>
            <a:pPr marL="0" indent="0">
              <a:buNone/>
            </a:pPr>
            <a:r>
              <a:rPr lang="en-US" sz="1000" b="1" kern="0" spc="400" dirty="0">
                <a:solidFill>
                  <a:srgbClr val="00FF88"/>
                </a:solidFill>
              </a:rPr>
              <a:t>IMPACTO</a:t>
            </a:r>
            <a:endParaRPr lang="en-US" sz="1000" dirty="0"/>
          </a:p>
        </p:txBody>
      </p:sp>
      <p:sp>
        <p:nvSpPr>
          <p:cNvPr id="8" name="Text 6"/>
          <p:cNvSpPr/>
          <p:nvPr/>
        </p:nvSpPr>
        <p:spPr>
          <a:xfrm>
            <a:off x="457200" y="41148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Conclusión y ROI</a:t>
            </a:r>
            <a:endParaRPr lang="en-US" sz="2400" dirty="0"/>
          </a:p>
        </p:txBody>
      </p:sp>
      <p:sp>
        <p:nvSpPr>
          <p:cNvPr id="9" name="Shape 7"/>
          <p:cNvSpPr/>
          <p:nvPr/>
        </p:nvSpPr>
        <p:spPr>
          <a:xfrm>
            <a:off x="457200" y="886968"/>
            <a:ext cx="8229600" cy="27432"/>
          </a:xfrm>
          <a:prstGeom prst="rect">
            <a:avLst/>
          </a:prstGeom>
          <a:solidFill>
            <a:srgbClr val="00FF88">
              <a:alpha val="40000"/>
            </a:srgbClr>
          </a:solidFill>
          <a:ln w="12700">
            <a:solidFill>
              <a:srgbClr val="00FF88"/>
            </a:solidFill>
            <a:prstDash val="solid"/>
          </a:ln>
        </p:spPr>
      </p:sp>
      <p:sp>
        <p:nvSpPr>
          <p:cNvPr id="10" name="Shape 8"/>
          <p:cNvSpPr/>
          <p:nvPr/>
        </p:nvSpPr>
        <p:spPr>
          <a:xfrm>
            <a:off x="457200" y="1005840"/>
            <a:ext cx="1920240" cy="1874520"/>
          </a:xfrm>
          <a:prstGeom prst="rect">
            <a:avLst/>
          </a:prstGeom>
          <a:solidFill>
            <a:srgbClr val="0D1F3C"/>
          </a:solidFill>
          <a:ln w="12700">
            <a:solidFill>
              <a:srgbClr val="00F5FF">
                <a:alpha val="60000"/>
              </a:srgbClr>
            </a:solidFill>
            <a:prstDash val="solid"/>
          </a:ln>
          <a:effectLst>
            <a:outerShdw blurRad="177800" dist="38100" dir="8100000" algn="bl" rotWithShape="0">
              <a:srgbClr val="000000">
                <a:alpha val="35000"/>
              </a:srgbClr>
            </a:outerShdw>
          </a:effectLst>
        </p:spPr>
      </p:sp>
      <p:sp>
        <p:nvSpPr>
          <p:cNvPr id="11" name="Shape 9"/>
          <p:cNvSpPr/>
          <p:nvPr/>
        </p:nvSpPr>
        <p:spPr>
          <a:xfrm>
            <a:off x="457200" y="1005840"/>
            <a:ext cx="1920240" cy="54864"/>
          </a:xfrm>
          <a:prstGeom prst="rect">
            <a:avLst/>
          </a:prstGeom>
          <a:solidFill>
            <a:srgbClr val="00F5FF"/>
          </a:solidFill>
          <a:ln w="12700">
            <a:solidFill>
              <a:srgbClr val="00F5FF"/>
            </a:solidFill>
            <a:prstDash val="solid"/>
          </a:ln>
        </p:spPr>
      </p:sp>
      <p:pic>
        <p:nvPicPr>
          <p:cNvPr id="12" name="Image 0" descr="preencoded.png"/>
          <p:cNvPicPr>
            <a:picLocks noChangeAspect="1"/>
          </p:cNvPicPr>
          <p:nvPr/>
        </p:nvPicPr>
        <p:blipFill>
          <a:blip r:embed="rId3"/>
          <a:stretch>
            <a:fillRect/>
          </a:stretch>
        </p:blipFill>
        <p:spPr>
          <a:xfrm>
            <a:off x="1211580" y="1115568"/>
            <a:ext cx="411480" cy="411480"/>
          </a:xfrm>
          <a:prstGeom prst="rect">
            <a:avLst/>
          </a:prstGeom>
        </p:spPr>
      </p:pic>
      <p:sp>
        <p:nvSpPr>
          <p:cNvPr id="13" name="Text 10"/>
          <p:cNvSpPr/>
          <p:nvPr/>
        </p:nvSpPr>
        <p:spPr>
          <a:xfrm>
            <a:off x="457200" y="1600200"/>
            <a:ext cx="1920240" cy="548640"/>
          </a:xfrm>
          <a:prstGeom prst="rect">
            <a:avLst/>
          </a:prstGeom>
          <a:noFill/>
          <a:ln/>
        </p:spPr>
        <p:txBody>
          <a:bodyPr wrap="square" lIns="0" tIns="0" rIns="0" bIns="0" rtlCol="0" anchor="ctr"/>
          <a:lstStyle/>
          <a:p>
            <a:pPr marL="0" indent="0" algn="ctr">
              <a:buNone/>
            </a:pPr>
            <a:r>
              <a:rPr lang="en-US" sz="2600" b="1" dirty="0">
                <a:solidFill>
                  <a:srgbClr val="00F5FF"/>
                </a:solidFill>
              </a:rPr>
              <a:t>500</a:t>
            </a:r>
            <a:endParaRPr lang="en-US" sz="2600" dirty="0"/>
          </a:p>
        </p:txBody>
      </p:sp>
      <p:sp>
        <p:nvSpPr>
          <p:cNvPr id="14" name="Text 11"/>
          <p:cNvSpPr/>
          <p:nvPr/>
        </p:nvSpPr>
        <p:spPr>
          <a:xfrm>
            <a:off x="530352" y="2121408"/>
            <a:ext cx="1773936" cy="347472"/>
          </a:xfrm>
          <a:prstGeom prst="rect">
            <a:avLst/>
          </a:prstGeom>
          <a:noFill/>
          <a:ln/>
        </p:spPr>
        <p:txBody>
          <a:bodyPr wrap="square" lIns="0" tIns="0" rIns="0" bIns="0" rtlCol="0" anchor="ctr"/>
          <a:lstStyle/>
          <a:p>
            <a:pPr marL="0" indent="0" algn="ctr">
              <a:buNone/>
            </a:pPr>
            <a:r>
              <a:rPr lang="en-US" sz="900" b="1" dirty="0">
                <a:solidFill>
                  <a:srgbClr val="FFFFFF"/>
                </a:solidFill>
              </a:rPr>
              <a:t>facturas/semana</a:t>
            </a:r>
            <a:endParaRPr lang="en-US" sz="900" dirty="0"/>
          </a:p>
        </p:txBody>
      </p:sp>
      <p:sp>
        <p:nvSpPr>
          <p:cNvPr id="15" name="Text 12"/>
          <p:cNvSpPr/>
          <p:nvPr/>
        </p:nvSpPr>
        <p:spPr>
          <a:xfrm>
            <a:off x="530352" y="2468880"/>
            <a:ext cx="1773936" cy="347472"/>
          </a:xfrm>
          <a:prstGeom prst="rect">
            <a:avLst/>
          </a:prstGeom>
          <a:noFill/>
          <a:ln/>
        </p:spPr>
        <p:txBody>
          <a:bodyPr wrap="square" lIns="0" tIns="0" rIns="0" bIns="0" rtlCol="0" anchor="ctr"/>
          <a:lstStyle/>
          <a:p>
            <a:pPr marL="0" indent="0" algn="ctr">
              <a:buNone/>
            </a:pPr>
            <a:r>
              <a:rPr lang="en-US" sz="800" dirty="0">
                <a:solidFill>
                  <a:srgbClr val="8899BB"/>
                </a:solidFill>
              </a:rPr>
              <a:t>25 personas × 20 facturas</a:t>
            </a:r>
            <a:endParaRPr lang="en-US" sz="800" dirty="0"/>
          </a:p>
        </p:txBody>
      </p:sp>
      <p:sp>
        <p:nvSpPr>
          <p:cNvPr id="16" name="Shape 13"/>
          <p:cNvSpPr/>
          <p:nvPr/>
        </p:nvSpPr>
        <p:spPr>
          <a:xfrm>
            <a:off x="2542032" y="1005840"/>
            <a:ext cx="1920240" cy="1874520"/>
          </a:xfrm>
          <a:prstGeom prst="rect">
            <a:avLst/>
          </a:prstGeom>
          <a:solidFill>
            <a:srgbClr val="0D1F3C"/>
          </a:solidFill>
          <a:ln w="12700">
            <a:solidFill>
              <a:srgbClr val="FF6B35">
                <a:alpha val="60000"/>
              </a:srgbClr>
            </a:solidFill>
            <a:prstDash val="solid"/>
          </a:ln>
          <a:effectLst>
            <a:outerShdw blurRad="177800" dist="38100" dir="8100000" algn="bl" rotWithShape="0">
              <a:srgbClr val="000000">
                <a:alpha val="35000"/>
              </a:srgbClr>
            </a:outerShdw>
          </a:effectLst>
        </p:spPr>
      </p:sp>
      <p:sp>
        <p:nvSpPr>
          <p:cNvPr id="17" name="Shape 14"/>
          <p:cNvSpPr/>
          <p:nvPr/>
        </p:nvSpPr>
        <p:spPr>
          <a:xfrm>
            <a:off x="2542032" y="1005840"/>
            <a:ext cx="1920240" cy="54864"/>
          </a:xfrm>
          <a:prstGeom prst="rect">
            <a:avLst/>
          </a:prstGeom>
          <a:solidFill>
            <a:srgbClr val="FF6B35"/>
          </a:solidFill>
          <a:ln w="12700">
            <a:solidFill>
              <a:srgbClr val="FF6B35"/>
            </a:solidFill>
            <a:prstDash val="solid"/>
          </a:ln>
        </p:spPr>
      </p:sp>
      <p:pic>
        <p:nvPicPr>
          <p:cNvPr id="18" name="Image 1" descr="preencoded.png"/>
          <p:cNvPicPr>
            <a:picLocks noChangeAspect="1"/>
          </p:cNvPicPr>
          <p:nvPr/>
        </p:nvPicPr>
        <p:blipFill>
          <a:blip r:embed="rId4"/>
          <a:stretch>
            <a:fillRect/>
          </a:stretch>
        </p:blipFill>
        <p:spPr>
          <a:xfrm>
            <a:off x="3296412" y="1115568"/>
            <a:ext cx="411480" cy="411480"/>
          </a:xfrm>
          <a:prstGeom prst="rect">
            <a:avLst/>
          </a:prstGeom>
        </p:spPr>
      </p:pic>
      <p:sp>
        <p:nvSpPr>
          <p:cNvPr id="19" name="Text 15"/>
          <p:cNvSpPr/>
          <p:nvPr/>
        </p:nvSpPr>
        <p:spPr>
          <a:xfrm>
            <a:off x="2542032" y="1600200"/>
            <a:ext cx="1920240" cy="548640"/>
          </a:xfrm>
          <a:prstGeom prst="rect">
            <a:avLst/>
          </a:prstGeom>
          <a:noFill/>
          <a:ln/>
        </p:spPr>
        <p:txBody>
          <a:bodyPr wrap="square" lIns="0" tIns="0" rIns="0" bIns="0" rtlCol="0" anchor="ctr"/>
          <a:lstStyle/>
          <a:p>
            <a:pPr marL="0" indent="0" algn="ctr">
              <a:buNone/>
            </a:pPr>
            <a:r>
              <a:rPr lang="en-US" sz="2600" b="1" dirty="0">
                <a:solidFill>
                  <a:srgbClr val="FF6B35"/>
                </a:solidFill>
              </a:rPr>
              <a:t>25h</a:t>
            </a:r>
            <a:endParaRPr lang="en-US" sz="2600" dirty="0"/>
          </a:p>
        </p:txBody>
      </p:sp>
      <p:sp>
        <p:nvSpPr>
          <p:cNvPr id="20" name="Text 16"/>
          <p:cNvSpPr/>
          <p:nvPr/>
        </p:nvSpPr>
        <p:spPr>
          <a:xfrm>
            <a:off x="2615184" y="2121408"/>
            <a:ext cx="1773936" cy="347472"/>
          </a:xfrm>
          <a:prstGeom prst="rect">
            <a:avLst/>
          </a:prstGeom>
          <a:noFill/>
          <a:ln/>
        </p:spPr>
        <p:txBody>
          <a:bodyPr wrap="square" lIns="0" tIns="0" rIns="0" bIns="0" rtlCol="0" anchor="ctr"/>
          <a:lstStyle/>
          <a:p>
            <a:pPr marL="0" indent="0" algn="ctr">
              <a:buNone/>
            </a:pPr>
            <a:r>
              <a:rPr lang="en-US" sz="900" b="1" dirty="0">
                <a:solidFill>
                  <a:srgbClr val="FFFFFF"/>
                </a:solidFill>
              </a:rPr>
              <a:t>horas actuales/semana</a:t>
            </a:r>
            <a:endParaRPr lang="en-US" sz="900" dirty="0"/>
          </a:p>
        </p:txBody>
      </p:sp>
      <p:sp>
        <p:nvSpPr>
          <p:cNvPr id="21" name="Text 17"/>
          <p:cNvSpPr/>
          <p:nvPr/>
        </p:nvSpPr>
        <p:spPr>
          <a:xfrm>
            <a:off x="2615184" y="2468880"/>
            <a:ext cx="1773936" cy="347472"/>
          </a:xfrm>
          <a:prstGeom prst="rect">
            <a:avLst/>
          </a:prstGeom>
          <a:noFill/>
          <a:ln/>
        </p:spPr>
        <p:txBody>
          <a:bodyPr wrap="square" lIns="0" tIns="0" rIns="0" bIns="0" rtlCol="0" anchor="ctr"/>
          <a:lstStyle/>
          <a:p>
            <a:pPr marL="0" indent="0" algn="ctr">
              <a:buNone/>
            </a:pPr>
            <a:r>
              <a:rPr lang="en-US" sz="800" dirty="0">
                <a:solidFill>
                  <a:srgbClr val="8899BB"/>
                </a:solidFill>
              </a:rPr>
              <a:t>500 × 3 min = 1,500 min</a:t>
            </a:r>
            <a:endParaRPr lang="en-US" sz="800" dirty="0"/>
          </a:p>
        </p:txBody>
      </p:sp>
      <p:sp>
        <p:nvSpPr>
          <p:cNvPr id="22" name="Shape 18"/>
          <p:cNvSpPr/>
          <p:nvPr/>
        </p:nvSpPr>
        <p:spPr>
          <a:xfrm>
            <a:off x="4626864" y="1005840"/>
            <a:ext cx="1920240" cy="1874520"/>
          </a:xfrm>
          <a:prstGeom prst="rect">
            <a:avLst/>
          </a:prstGeom>
          <a:solidFill>
            <a:srgbClr val="0D1F3C"/>
          </a:solidFill>
          <a:ln w="12700">
            <a:solidFill>
              <a:srgbClr val="7C3AED">
                <a:alpha val="60000"/>
              </a:srgbClr>
            </a:solidFill>
            <a:prstDash val="solid"/>
          </a:ln>
          <a:effectLst>
            <a:outerShdw blurRad="177800" dist="38100" dir="8100000" algn="bl" rotWithShape="0">
              <a:srgbClr val="000000">
                <a:alpha val="35000"/>
              </a:srgbClr>
            </a:outerShdw>
          </a:effectLst>
        </p:spPr>
      </p:sp>
      <p:sp>
        <p:nvSpPr>
          <p:cNvPr id="23" name="Shape 19"/>
          <p:cNvSpPr/>
          <p:nvPr/>
        </p:nvSpPr>
        <p:spPr>
          <a:xfrm>
            <a:off x="4626864" y="1005840"/>
            <a:ext cx="1920240" cy="54864"/>
          </a:xfrm>
          <a:prstGeom prst="rect">
            <a:avLst/>
          </a:prstGeom>
          <a:solidFill>
            <a:srgbClr val="7C3AED"/>
          </a:solidFill>
          <a:ln w="12700">
            <a:solidFill>
              <a:srgbClr val="7C3AED"/>
            </a:solidFill>
            <a:prstDash val="solid"/>
          </a:ln>
        </p:spPr>
      </p:sp>
      <p:pic>
        <p:nvPicPr>
          <p:cNvPr id="24" name="Image 2" descr="preencoded.png"/>
          <p:cNvPicPr>
            <a:picLocks noChangeAspect="1"/>
          </p:cNvPicPr>
          <p:nvPr/>
        </p:nvPicPr>
        <p:blipFill>
          <a:blip r:embed="rId5"/>
          <a:stretch>
            <a:fillRect/>
          </a:stretch>
        </p:blipFill>
        <p:spPr>
          <a:xfrm>
            <a:off x="5381244" y="1115568"/>
            <a:ext cx="411480" cy="411480"/>
          </a:xfrm>
          <a:prstGeom prst="rect">
            <a:avLst/>
          </a:prstGeom>
        </p:spPr>
      </p:pic>
      <p:sp>
        <p:nvSpPr>
          <p:cNvPr id="25" name="Text 20"/>
          <p:cNvSpPr/>
          <p:nvPr/>
        </p:nvSpPr>
        <p:spPr>
          <a:xfrm>
            <a:off x="4626864" y="1600200"/>
            <a:ext cx="1920240" cy="548640"/>
          </a:xfrm>
          <a:prstGeom prst="rect">
            <a:avLst/>
          </a:prstGeom>
          <a:noFill/>
          <a:ln/>
        </p:spPr>
        <p:txBody>
          <a:bodyPr wrap="square" lIns="0" tIns="0" rIns="0" bIns="0" rtlCol="0" anchor="ctr"/>
          <a:lstStyle/>
          <a:p>
            <a:pPr marL="0" indent="0" algn="ctr">
              <a:buNone/>
            </a:pPr>
            <a:r>
              <a:rPr lang="en-US" sz="2600" b="1" dirty="0">
                <a:solidFill>
                  <a:srgbClr val="7C3AED"/>
                </a:solidFill>
              </a:rPr>
              <a:t>4.1h</a:t>
            </a:r>
            <a:endParaRPr lang="en-US" sz="2600" dirty="0"/>
          </a:p>
        </p:txBody>
      </p:sp>
      <p:sp>
        <p:nvSpPr>
          <p:cNvPr id="26" name="Text 21"/>
          <p:cNvSpPr/>
          <p:nvPr/>
        </p:nvSpPr>
        <p:spPr>
          <a:xfrm>
            <a:off x="4700016" y="2121408"/>
            <a:ext cx="1773936" cy="347472"/>
          </a:xfrm>
          <a:prstGeom prst="rect">
            <a:avLst/>
          </a:prstGeom>
          <a:noFill/>
          <a:ln/>
        </p:spPr>
        <p:txBody>
          <a:bodyPr wrap="square" lIns="0" tIns="0" rIns="0" bIns="0" rtlCol="0" anchor="ctr"/>
          <a:lstStyle/>
          <a:p>
            <a:pPr marL="0" indent="0" algn="ctr">
              <a:buNone/>
            </a:pPr>
            <a:r>
              <a:rPr lang="en-US" sz="900" b="1" dirty="0">
                <a:solidFill>
                  <a:srgbClr val="FFFFFF"/>
                </a:solidFill>
              </a:rPr>
              <a:t>con IA/semana</a:t>
            </a:r>
            <a:endParaRPr lang="en-US" sz="900" dirty="0"/>
          </a:p>
        </p:txBody>
      </p:sp>
      <p:sp>
        <p:nvSpPr>
          <p:cNvPr id="27" name="Text 22"/>
          <p:cNvSpPr/>
          <p:nvPr/>
        </p:nvSpPr>
        <p:spPr>
          <a:xfrm>
            <a:off x="4700016" y="2468880"/>
            <a:ext cx="1773936" cy="347472"/>
          </a:xfrm>
          <a:prstGeom prst="rect">
            <a:avLst/>
          </a:prstGeom>
          <a:noFill/>
          <a:ln/>
        </p:spPr>
        <p:txBody>
          <a:bodyPr wrap="square" lIns="0" tIns="0" rIns="0" bIns="0" rtlCol="0" anchor="ctr"/>
          <a:lstStyle/>
          <a:p>
            <a:pPr marL="0" indent="0" algn="ctr">
              <a:buNone/>
            </a:pPr>
            <a:r>
              <a:rPr lang="en-US" sz="800" dirty="0">
                <a:solidFill>
                  <a:srgbClr val="8899BB"/>
                </a:solidFill>
              </a:rPr>
              <a:t>500 × 0.5 min = 250 min</a:t>
            </a:r>
            <a:endParaRPr lang="en-US" sz="800" dirty="0"/>
          </a:p>
        </p:txBody>
      </p:sp>
      <p:sp>
        <p:nvSpPr>
          <p:cNvPr id="28" name="Shape 23"/>
          <p:cNvSpPr/>
          <p:nvPr/>
        </p:nvSpPr>
        <p:spPr>
          <a:xfrm>
            <a:off x="6711696" y="1005840"/>
            <a:ext cx="1920240" cy="1874520"/>
          </a:xfrm>
          <a:prstGeom prst="rect">
            <a:avLst/>
          </a:prstGeom>
          <a:solidFill>
            <a:srgbClr val="0D1F3C"/>
          </a:solidFill>
          <a:ln w="12700">
            <a:solidFill>
              <a:srgbClr val="00FF88">
                <a:alpha val="60000"/>
              </a:srgbClr>
            </a:solidFill>
            <a:prstDash val="solid"/>
          </a:ln>
          <a:effectLst>
            <a:outerShdw blurRad="177800" dist="38100" dir="8100000" algn="bl" rotWithShape="0">
              <a:srgbClr val="000000">
                <a:alpha val="35000"/>
              </a:srgbClr>
            </a:outerShdw>
          </a:effectLst>
        </p:spPr>
      </p:sp>
      <p:sp>
        <p:nvSpPr>
          <p:cNvPr id="29" name="Shape 24"/>
          <p:cNvSpPr/>
          <p:nvPr/>
        </p:nvSpPr>
        <p:spPr>
          <a:xfrm>
            <a:off x="6711696" y="1005840"/>
            <a:ext cx="1920240" cy="54864"/>
          </a:xfrm>
          <a:prstGeom prst="rect">
            <a:avLst/>
          </a:prstGeom>
          <a:solidFill>
            <a:srgbClr val="00FF88"/>
          </a:solidFill>
          <a:ln w="12700">
            <a:solidFill>
              <a:srgbClr val="00FF88"/>
            </a:solidFill>
            <a:prstDash val="solid"/>
          </a:ln>
        </p:spPr>
      </p:sp>
      <p:pic>
        <p:nvPicPr>
          <p:cNvPr id="30" name="Image 3" descr="preencoded.png"/>
          <p:cNvPicPr>
            <a:picLocks noChangeAspect="1"/>
          </p:cNvPicPr>
          <p:nvPr/>
        </p:nvPicPr>
        <p:blipFill>
          <a:blip r:embed="rId6"/>
          <a:stretch>
            <a:fillRect/>
          </a:stretch>
        </p:blipFill>
        <p:spPr>
          <a:xfrm>
            <a:off x="7466076" y="1115568"/>
            <a:ext cx="411480" cy="411480"/>
          </a:xfrm>
          <a:prstGeom prst="rect">
            <a:avLst/>
          </a:prstGeom>
        </p:spPr>
      </p:pic>
      <p:sp>
        <p:nvSpPr>
          <p:cNvPr id="31" name="Text 25"/>
          <p:cNvSpPr/>
          <p:nvPr/>
        </p:nvSpPr>
        <p:spPr>
          <a:xfrm>
            <a:off x="6711696" y="1600200"/>
            <a:ext cx="1920240" cy="548640"/>
          </a:xfrm>
          <a:prstGeom prst="rect">
            <a:avLst/>
          </a:prstGeom>
          <a:noFill/>
          <a:ln/>
        </p:spPr>
        <p:txBody>
          <a:bodyPr wrap="square" lIns="0" tIns="0" rIns="0" bIns="0" rtlCol="0" anchor="ctr"/>
          <a:lstStyle/>
          <a:p>
            <a:pPr marL="0" indent="0" algn="ctr">
              <a:buNone/>
            </a:pPr>
            <a:r>
              <a:rPr lang="en-US" sz="2600" b="1" dirty="0">
                <a:solidFill>
                  <a:srgbClr val="00FF88"/>
                </a:solidFill>
              </a:rPr>
              <a:t>21h</a:t>
            </a:r>
            <a:endParaRPr lang="en-US" sz="2600" dirty="0"/>
          </a:p>
        </p:txBody>
      </p:sp>
      <p:sp>
        <p:nvSpPr>
          <p:cNvPr id="32" name="Text 26"/>
          <p:cNvSpPr/>
          <p:nvPr/>
        </p:nvSpPr>
        <p:spPr>
          <a:xfrm>
            <a:off x="6784848" y="2121408"/>
            <a:ext cx="1773936" cy="347472"/>
          </a:xfrm>
          <a:prstGeom prst="rect">
            <a:avLst/>
          </a:prstGeom>
          <a:noFill/>
          <a:ln/>
        </p:spPr>
        <p:txBody>
          <a:bodyPr wrap="square" lIns="0" tIns="0" rIns="0" bIns="0" rtlCol="0" anchor="ctr"/>
          <a:lstStyle/>
          <a:p>
            <a:pPr marL="0" indent="0" algn="ctr">
              <a:buNone/>
            </a:pPr>
            <a:r>
              <a:rPr lang="en-US" sz="900" b="1" dirty="0">
                <a:solidFill>
                  <a:srgbClr val="FFFFFF"/>
                </a:solidFill>
              </a:rPr>
              <a:t>ahorro semanal</a:t>
            </a:r>
            <a:endParaRPr lang="en-US" sz="900" dirty="0"/>
          </a:p>
        </p:txBody>
      </p:sp>
      <p:sp>
        <p:nvSpPr>
          <p:cNvPr id="33" name="Text 27"/>
          <p:cNvSpPr/>
          <p:nvPr/>
        </p:nvSpPr>
        <p:spPr>
          <a:xfrm>
            <a:off x="6784848" y="2468880"/>
            <a:ext cx="1773936" cy="347472"/>
          </a:xfrm>
          <a:prstGeom prst="rect">
            <a:avLst/>
          </a:prstGeom>
          <a:noFill/>
          <a:ln/>
        </p:spPr>
        <p:txBody>
          <a:bodyPr wrap="square" lIns="0" tIns="0" rIns="0" bIns="0" rtlCol="0" anchor="ctr"/>
          <a:lstStyle/>
          <a:p>
            <a:pPr marL="0" indent="0" algn="ctr">
              <a:buNone/>
            </a:pPr>
            <a:r>
              <a:rPr lang="en-US" sz="800" dirty="0">
                <a:solidFill>
                  <a:srgbClr val="8899BB"/>
                </a:solidFill>
              </a:rPr>
              <a:t>~84 horas al mes</a:t>
            </a:r>
            <a:endParaRPr lang="en-US" sz="800" dirty="0"/>
          </a:p>
        </p:txBody>
      </p:sp>
      <p:sp>
        <p:nvSpPr>
          <p:cNvPr id="34" name="Shape 28"/>
          <p:cNvSpPr/>
          <p:nvPr/>
        </p:nvSpPr>
        <p:spPr>
          <a:xfrm>
            <a:off x="457200" y="2999232"/>
            <a:ext cx="8229600" cy="1627632"/>
          </a:xfrm>
          <a:prstGeom prst="rect">
            <a:avLst/>
          </a:prstGeom>
          <a:solidFill>
            <a:srgbClr val="0D1F3C"/>
          </a:solidFill>
          <a:ln w="12700">
            <a:solidFill>
              <a:srgbClr val="FFD700">
                <a:alpha val="55000"/>
              </a:srgbClr>
            </a:solidFill>
            <a:prstDash val="solid"/>
          </a:ln>
        </p:spPr>
      </p:sp>
      <p:sp>
        <p:nvSpPr>
          <p:cNvPr id="35" name="Shape 29"/>
          <p:cNvSpPr/>
          <p:nvPr/>
        </p:nvSpPr>
        <p:spPr>
          <a:xfrm>
            <a:off x="457200" y="2999232"/>
            <a:ext cx="8229600" cy="54864"/>
          </a:xfrm>
          <a:prstGeom prst="rect">
            <a:avLst/>
          </a:prstGeom>
          <a:solidFill>
            <a:srgbClr val="FFD700">
              <a:alpha val="60000"/>
            </a:srgbClr>
          </a:solidFill>
          <a:ln w="12700">
            <a:solidFill>
              <a:srgbClr val="FFD700"/>
            </a:solidFill>
            <a:prstDash val="solid"/>
          </a:ln>
        </p:spPr>
      </p:sp>
      <p:pic>
        <p:nvPicPr>
          <p:cNvPr id="36" name="Image 4" descr="preencoded.png"/>
          <p:cNvPicPr>
            <a:picLocks noChangeAspect="1"/>
          </p:cNvPicPr>
          <p:nvPr/>
        </p:nvPicPr>
        <p:blipFill>
          <a:blip r:embed="rId7"/>
          <a:stretch>
            <a:fillRect/>
          </a:stretch>
        </p:blipFill>
        <p:spPr>
          <a:xfrm>
            <a:off x="594360" y="3127248"/>
            <a:ext cx="411480" cy="411480"/>
          </a:xfrm>
          <a:prstGeom prst="rect">
            <a:avLst/>
          </a:prstGeom>
        </p:spPr>
      </p:pic>
      <p:sp>
        <p:nvSpPr>
          <p:cNvPr id="37" name="Text 30"/>
          <p:cNvSpPr/>
          <p:nvPr/>
        </p:nvSpPr>
        <p:spPr>
          <a:xfrm>
            <a:off x="1097280" y="3090672"/>
            <a:ext cx="4572000" cy="384048"/>
          </a:xfrm>
          <a:prstGeom prst="rect">
            <a:avLst/>
          </a:prstGeom>
          <a:noFill/>
          <a:ln/>
        </p:spPr>
        <p:txBody>
          <a:bodyPr wrap="square" lIns="0" tIns="0" rIns="0" bIns="0" rtlCol="0" anchor="ctr"/>
          <a:lstStyle/>
          <a:p>
            <a:pPr marL="0" indent="0">
              <a:buNone/>
            </a:pPr>
            <a:r>
              <a:rPr lang="en-US" sz="1200" b="1" dirty="0">
                <a:solidFill>
                  <a:srgbClr val="FFD700"/>
                </a:solidFill>
              </a:rPr>
              <a:t>Cálculo del Valor Económico</a:t>
            </a:r>
            <a:endParaRPr lang="en-US" sz="1200" dirty="0"/>
          </a:p>
        </p:txBody>
      </p:sp>
      <p:sp>
        <p:nvSpPr>
          <p:cNvPr id="38" name="Text 31"/>
          <p:cNvSpPr/>
          <p:nvPr/>
        </p:nvSpPr>
        <p:spPr>
          <a:xfrm>
            <a:off x="594360" y="3529584"/>
            <a:ext cx="5029200" cy="347472"/>
          </a:xfrm>
          <a:prstGeom prst="rect">
            <a:avLst/>
          </a:prstGeom>
          <a:noFill/>
          <a:ln/>
        </p:spPr>
        <p:txBody>
          <a:bodyPr wrap="square" rtlCol="0" anchor="ctr"/>
          <a:lstStyle/>
          <a:p>
            <a:pPr marL="0" indent="0">
              <a:buNone/>
            </a:pPr>
            <a:r>
              <a:rPr lang="en-US" sz="1050" dirty="0">
                <a:solidFill>
                  <a:srgbClr val="8899BB"/>
                </a:solidFill>
              </a:rPr>
              <a:t>Costo promedio/hora auxiliar contable: </a:t>
            </a:r>
            <a:r>
              <a:rPr lang="en-US" sz="1050" b="1" dirty="0">
                <a:solidFill>
                  <a:srgbClr val="FFD700"/>
                </a:solidFill>
              </a:rPr>
              <a:t>Q37.50  </a:t>
            </a:r>
            <a:r>
              <a:rPr lang="en-US" sz="1050" dirty="0">
                <a:solidFill>
                  <a:srgbClr val="8899BB"/>
                </a:solidFill>
              </a:rPr>
              <a:t>(Q6,000/mes ÷ 160h)</a:t>
            </a:r>
            <a:endParaRPr lang="en-US" sz="1050" dirty="0"/>
          </a:p>
        </p:txBody>
      </p:sp>
      <p:sp>
        <p:nvSpPr>
          <p:cNvPr id="39" name="Text 32"/>
          <p:cNvSpPr/>
          <p:nvPr/>
        </p:nvSpPr>
        <p:spPr>
          <a:xfrm>
            <a:off x="594360" y="3867912"/>
            <a:ext cx="5029200" cy="347472"/>
          </a:xfrm>
          <a:prstGeom prst="rect">
            <a:avLst/>
          </a:prstGeom>
          <a:noFill/>
          <a:ln/>
        </p:spPr>
        <p:txBody>
          <a:bodyPr wrap="square" rtlCol="0" anchor="ctr"/>
          <a:lstStyle/>
          <a:p>
            <a:pPr marL="0" indent="0">
              <a:buNone/>
            </a:pPr>
            <a:r>
              <a:rPr lang="en-US" sz="1050" dirty="0">
                <a:solidFill>
                  <a:srgbClr val="8899BB"/>
                </a:solidFill>
              </a:rPr>
              <a:t>Ahorro mensual: </a:t>
            </a:r>
            <a:r>
              <a:rPr lang="en-US" sz="1050" dirty="0">
                <a:solidFill>
                  <a:srgbClr val="FFFFFF"/>
                </a:solidFill>
              </a:rPr>
              <a:t>84h × Q37.50 = </a:t>
            </a:r>
            <a:r>
              <a:rPr lang="en-US" sz="1050" b="1" dirty="0">
                <a:solidFill>
                  <a:srgbClr val="00FF88"/>
                </a:solidFill>
              </a:rPr>
              <a:t>Q3,150 / empresa</a:t>
            </a:r>
            <a:endParaRPr lang="en-US" sz="1050" dirty="0"/>
          </a:p>
        </p:txBody>
      </p:sp>
      <p:sp>
        <p:nvSpPr>
          <p:cNvPr id="40" name="Text 33"/>
          <p:cNvSpPr/>
          <p:nvPr/>
        </p:nvSpPr>
        <p:spPr>
          <a:xfrm>
            <a:off x="594360" y="4206240"/>
            <a:ext cx="5029200" cy="320040"/>
          </a:xfrm>
          <a:prstGeom prst="rect">
            <a:avLst/>
          </a:prstGeom>
          <a:noFill/>
          <a:ln/>
        </p:spPr>
        <p:txBody>
          <a:bodyPr wrap="square" rtlCol="0" anchor="ctr"/>
          <a:lstStyle/>
          <a:p>
            <a:pPr marL="0" indent="0">
              <a:buNone/>
            </a:pPr>
            <a:r>
              <a:rPr lang="en-US" sz="1000" i="1" dirty="0">
                <a:solidFill>
                  <a:srgbClr val="8899BB"/>
                </a:solidFill>
              </a:rPr>
              <a:t>Multiplicado por todas las empresas de la corporación</a:t>
            </a:r>
            <a:endParaRPr lang="en-US" sz="1000" dirty="0"/>
          </a:p>
        </p:txBody>
      </p:sp>
      <p:sp>
        <p:nvSpPr>
          <p:cNvPr id="41" name="Shape 34"/>
          <p:cNvSpPr/>
          <p:nvPr/>
        </p:nvSpPr>
        <p:spPr>
          <a:xfrm>
            <a:off x="5943600" y="3090672"/>
            <a:ext cx="2560320" cy="1417320"/>
          </a:xfrm>
          <a:prstGeom prst="rect">
            <a:avLst/>
          </a:prstGeom>
          <a:solidFill>
            <a:srgbClr val="00FF88">
              <a:alpha val="20000"/>
            </a:srgbClr>
          </a:solidFill>
          <a:ln w="25400">
            <a:solidFill>
              <a:srgbClr val="00FF88">
                <a:alpha val="80000"/>
              </a:srgbClr>
            </a:solidFill>
            <a:prstDash val="solid"/>
          </a:ln>
        </p:spPr>
      </p:sp>
      <p:sp>
        <p:nvSpPr>
          <p:cNvPr id="42" name="Text 35"/>
          <p:cNvSpPr/>
          <p:nvPr/>
        </p:nvSpPr>
        <p:spPr>
          <a:xfrm>
            <a:off x="5943600" y="3127248"/>
            <a:ext cx="2560320" cy="777240"/>
          </a:xfrm>
          <a:prstGeom prst="rect">
            <a:avLst/>
          </a:prstGeom>
          <a:noFill/>
          <a:ln/>
        </p:spPr>
        <p:txBody>
          <a:bodyPr wrap="square" lIns="0" tIns="0" rIns="0" bIns="0" rtlCol="0" anchor="ctr"/>
          <a:lstStyle/>
          <a:p>
            <a:pPr marL="0" indent="0" algn="ctr">
              <a:buNone/>
            </a:pPr>
            <a:r>
              <a:rPr lang="en-US" sz="3000" b="1" dirty="0">
                <a:solidFill>
                  <a:srgbClr val="00FF88"/>
                </a:solidFill>
              </a:rPr>
              <a:t>Q3,150+</a:t>
            </a:r>
            <a:endParaRPr lang="en-US" sz="3000" dirty="0"/>
          </a:p>
        </p:txBody>
      </p:sp>
      <p:sp>
        <p:nvSpPr>
          <p:cNvPr id="43" name="Text 36"/>
          <p:cNvSpPr/>
          <p:nvPr/>
        </p:nvSpPr>
        <p:spPr>
          <a:xfrm>
            <a:off x="5943600" y="3904488"/>
            <a:ext cx="2560320" cy="530352"/>
          </a:xfrm>
          <a:prstGeom prst="rect">
            <a:avLst/>
          </a:prstGeom>
          <a:noFill/>
          <a:ln/>
        </p:spPr>
        <p:txBody>
          <a:bodyPr wrap="square" lIns="0" tIns="0" rIns="0" bIns="0" rtlCol="0" anchor="ctr"/>
          <a:lstStyle/>
          <a:p>
            <a:pPr marL="0" indent="0" algn="ctr">
              <a:buNone/>
            </a:pPr>
            <a:r>
              <a:rPr lang="en-US" sz="1000" dirty="0">
                <a:solidFill>
                  <a:srgbClr val="FFFFFF"/>
                </a:solidFill>
              </a:rPr>
              <a:t>ahorro mensual</a:t>
            </a:r>
            <a:endParaRPr lang="en-US" sz="1000" dirty="0"/>
          </a:p>
          <a:p>
            <a:pPr marL="0" indent="0" algn="ctr">
              <a:buNone/>
            </a:pPr>
            <a:r>
              <a:rPr lang="en-US" sz="1000" dirty="0">
                <a:solidFill>
                  <a:srgbClr val="FFFFFF"/>
                </a:solidFill>
              </a:rPr>
              <a:t>por empresa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458</Words>
  <Application>Microsoft Office PowerPoint</Application>
  <PresentationFormat>Presentación en pantalla (16:9)</PresentationFormat>
  <Paragraphs>95</Paragraphs>
  <Slides>6</Slides>
  <Notes>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Automatización de registro de compras mediante agente de IA</dc:title>
  <dc:subject>PptxGenJS Presentation</dc:subject>
  <dc:creator>PptxGenJS</dc:creator>
  <cp:lastModifiedBy>Danilo Lopez</cp:lastModifiedBy>
  <cp:revision>2</cp:revision>
  <dcterms:created xsi:type="dcterms:W3CDTF">2026-06-01T20:19:04Z</dcterms:created>
  <dcterms:modified xsi:type="dcterms:W3CDTF">2026-06-01T22:04:48Z</dcterms:modified>
</cp:coreProperties>
</file>